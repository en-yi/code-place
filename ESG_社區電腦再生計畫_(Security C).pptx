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1" r:id="rId3"/>
    <p:sldId id="262" r:id="rId4"/>
    <p:sldId id="257" r:id="rId5"/>
    <p:sldId id="258" r:id="rId6"/>
    <p:sldId id="259" r:id="rId7"/>
    <p:sldId id="263" r:id="rId8"/>
    <p:sldId id="260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95D1A9-815E-460C-A0F9-160190212053}" type="datetimeFigureOut">
              <a:rPr lang="zh-TW" altLang="en-US" smtClean="0"/>
              <a:t>2025/10/12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4B47DD-73BE-45C3-872E-49650BAC12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7214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https://sustaihubtokyo.s3-ap-northeast-1.amazonaws.com/CSRreport/Mops/76027628_%E6%97%A5%E6%9C%88%E5%85%89_2311/76027628_2311_104_CSRreport.pdf?utm_source=chatgpt.com</a:t>
            </a:r>
          </a:p>
          <a:p>
            <a:endParaRPr lang="en-US" altLang="zh-TW" dirty="0"/>
          </a:p>
          <a:p>
            <a:pPr marL="0" indent="0">
              <a:buNone/>
            </a:pPr>
            <a:r>
              <a:rPr lang="zh-TW" altLang="en-US" sz="1200" dirty="0"/>
              <a:t>傳統做法：企業多是單純捐款或一次性捐贈設備，而本計畫創新點在於 </a:t>
            </a:r>
            <a:r>
              <a:rPr lang="en-US" altLang="zh-TW" sz="1200" dirty="0"/>
              <a:t>:</a:t>
            </a:r>
            <a:endParaRPr lang="zh-TW" altLang="en-US" sz="1200" dirty="0"/>
          </a:p>
          <a:p>
            <a:r>
              <a:rPr lang="zh-TW" altLang="en-US" sz="1200" dirty="0"/>
              <a:t>♻️ 結合環境永續：透過回收、檢測、翻新，延長電腦使用壽命，減少電子廢棄物。</a:t>
            </a:r>
          </a:p>
          <a:p>
            <a:r>
              <a:rPr lang="zh-TW" altLang="en-US" sz="1200" dirty="0"/>
              <a:t>🌍教育深化：不只是提供電腦等資訊設備，還加上數位教育工作坊，確保受贈者能有效運用設備。</a:t>
            </a:r>
            <a:endParaRPr lang="en-US" altLang="zh-TW" sz="1200" dirty="0"/>
          </a:p>
          <a:p>
            <a:endParaRPr lang="en-US" altLang="zh-TW" sz="1200" dirty="0"/>
          </a:p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STEAM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教育由五個單字組成，分別是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Science (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科學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Technology (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技術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Engineering (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工程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Arts (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藝術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Mathematics (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數學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，因此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STEAM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教育也稱作「跨學科教育」。</a:t>
            </a:r>
            <a:endParaRPr lang="en-US" altLang="zh-TW" sz="1200" dirty="0"/>
          </a:p>
          <a:p>
            <a:endParaRPr lang="en-US" altLang="zh-TW" dirty="0"/>
          </a:p>
          <a:p>
            <a:r>
              <a:rPr lang="zh-TW" altLang="en-US" b="1" dirty="0"/>
              <a:t>在地化循環機制</a:t>
            </a:r>
            <a:r>
              <a:rPr lang="zh-TW" altLang="en-US" dirty="0"/>
              <a:t>：不再僅由企業單向回收與捐贈，而是建立「社區再生工作坊」，讓地方志工、學生共同參與維修與檢測，形成地方自循環的再生生態系。</a:t>
            </a:r>
          </a:p>
          <a:p>
            <a:r>
              <a:rPr lang="zh-TW" altLang="en-US" b="1" dirty="0"/>
              <a:t>智慧化再生管理</a:t>
            </a:r>
            <a:r>
              <a:rPr lang="zh-TW" altLang="en-US" dirty="0"/>
              <a:t>：導入 </a:t>
            </a:r>
            <a:r>
              <a:rPr lang="en-US" altLang="zh-TW" dirty="0"/>
              <a:t>AI </a:t>
            </a:r>
            <a:r>
              <a:rPr lang="zh-TW" altLang="en-US" dirty="0"/>
              <a:t>電腦健檢與預測維護系統，能提前診斷硬體老化、延長設備壽命，降低再捐贈後的故障率。</a:t>
            </a:r>
          </a:p>
          <a:p>
            <a:r>
              <a:rPr lang="zh-TW" altLang="en-US" b="1" dirty="0"/>
              <a:t>教育共創深化</a:t>
            </a:r>
            <a:r>
              <a:rPr lang="zh-TW" altLang="en-US" dirty="0"/>
              <a:t>：結合再生電腦課程與在地議題，發展 </a:t>
            </a:r>
            <a:r>
              <a:rPr lang="en-US" altLang="zh-TW" dirty="0"/>
              <a:t>STEAM </a:t>
            </a:r>
            <a:r>
              <a:rPr lang="zh-TW" altLang="en-US" dirty="0"/>
              <a:t>專題（如環境監測、數位創作、智慧農業等），讓學生不僅「學會使用」，更能「用科技改變社區」。</a:t>
            </a:r>
          </a:p>
          <a:p>
            <a:r>
              <a:rPr lang="zh-TW" altLang="en-US" b="1" dirty="0"/>
              <a:t>可視化成效與 </a:t>
            </a:r>
            <a:r>
              <a:rPr lang="en-US" altLang="zh-TW" b="1" dirty="0"/>
              <a:t>ESG </a:t>
            </a:r>
            <a:r>
              <a:rPr lang="zh-TW" altLang="en-US" b="1" dirty="0"/>
              <a:t>指標化</a:t>
            </a:r>
            <a:r>
              <a:rPr lang="zh-TW" altLang="en-US" dirty="0"/>
              <a:t>：透過線上儀表板即時呈現再利用數量、減碳量與受惠人數，提升透明度與社會信任。</a:t>
            </a:r>
          </a:p>
          <a:p>
            <a:r>
              <a:rPr lang="zh-TW" altLang="en-US" b="1" dirty="0"/>
              <a:t>跨界合作與資源共享</a:t>
            </a:r>
            <a:r>
              <a:rPr lang="zh-TW" altLang="en-US" dirty="0"/>
              <a:t>：串聯企業汰換設備、維修廠與教育單位，建立零件共享與循環補償機制，延伸再生效益。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B47DD-73BE-45C3-872E-49650BAC1203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3421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A8B473-8838-1859-F5ED-5D96C8203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D8BCC35-1E42-588B-50CF-77E75C6200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D4903C3-DF3D-A71D-0623-0F4486A1D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8BFC-BB71-494A-A421-29E6F0052449}" type="datetimeFigureOut">
              <a:rPr lang="zh-TW" altLang="en-US" smtClean="0"/>
              <a:t>2025/10/10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30598C9-5946-BB2D-7DFF-5FE4575F7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83CE490-31D8-724F-420B-C7173589D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291E9-3283-433F-B022-093F34A7A6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1819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D2DC17-E929-09B0-45EC-F130BE184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4F529D-4B4A-CFA2-7AA8-D64D3D837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910A70-DC39-3493-4C0B-3EEAE3620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8BFC-BB71-494A-A421-29E6F0052449}" type="datetimeFigureOut">
              <a:rPr lang="zh-TW" altLang="en-US" smtClean="0"/>
              <a:t>2025/10/10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4DD651-06EB-D6ED-D897-765165083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EE055F-39CA-4A14-A4DD-698F67EDE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291E9-3283-433F-B022-093F34A7A6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0714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826E42-10C9-DA2F-1AB5-52E7F1CFD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634E986-7B2A-1C2C-9C0C-CB3B9AE00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C700049-232E-FF46-0CB4-71AD44AAD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8BFC-BB71-494A-A421-29E6F0052449}" type="datetimeFigureOut">
              <a:rPr lang="zh-TW" altLang="en-US" smtClean="0"/>
              <a:t>2025/10/10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21C94F6-4097-EF28-1501-5CE50F882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98B022-71ED-AB1D-2534-0875ABC0E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291E9-3283-433F-B022-093F34A7A6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0436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83F74F-4908-2CF9-4021-C094B6470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BA466F-A102-7DCF-18D8-23CE7DCED5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E6F8B80-A62D-1A20-4609-5710B32A2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FA575C-160B-ECEA-BEA1-C4AFB996A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8BFC-BB71-494A-A421-29E6F0052449}" type="datetimeFigureOut">
              <a:rPr lang="zh-TW" altLang="en-US" smtClean="0"/>
              <a:t>2025/10/10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E2A38C3-CE91-706E-6CC4-C11FCC490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56CED46-B31C-4D04-9DD9-4A2CB70DC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291E9-3283-433F-B022-093F34A7A6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6018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BCAD9E-80FB-6E2E-4293-F6505996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28B2493-8281-90F1-E983-34230BEF7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CC28643-BEEB-99C9-02E5-5389357C5E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FFAAA3E-5FFE-4FD4-771D-4E9F6D0C1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E7111D6-1D02-B24D-9D13-66B629F9C6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EC4F579-A9BB-3E1A-A390-109FE1F17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8BFC-BB71-494A-A421-29E6F0052449}" type="datetimeFigureOut">
              <a:rPr lang="zh-TW" altLang="en-US" smtClean="0"/>
              <a:t>2025/10/10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EB93197-E4C9-3744-A78F-57A396DB6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2A6CB4E-6B56-9CDE-44BD-9A7554F2D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291E9-3283-433F-B022-093F34A7A6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9404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B7CA12-4E3A-A6F4-0854-42C3B9449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076A7E4-C2AC-87CF-2D8B-C94D82FE5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8BFC-BB71-494A-A421-29E6F0052449}" type="datetimeFigureOut">
              <a:rPr lang="zh-TW" altLang="en-US" smtClean="0"/>
              <a:t>2025/10/10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87F8E6B-27FB-C466-625A-A274191AA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D90EF59-3367-10C5-55E8-7A1718306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291E9-3283-433F-B022-093F34A7A6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5524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A6E4E38-805E-8380-8393-19D7B70E4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8BFC-BB71-494A-A421-29E6F0052449}" type="datetimeFigureOut">
              <a:rPr lang="zh-TW" altLang="en-US" smtClean="0"/>
              <a:t>2025/10/10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950326E-F919-5FA5-9DBD-96BC6A09A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59C62D-D4BC-2F87-ADCF-CACD1A175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291E9-3283-433F-B022-093F34A7A6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9705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B3602F-0609-B042-B540-B4F5778B0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192D2C-B6F4-063B-8DD4-3D66D403F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8FFB9F1-861C-3AA5-B27F-3DCAF47DD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8861405-1B8C-E7B8-3AC5-C812DC51A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8BFC-BB71-494A-A421-29E6F0052449}" type="datetimeFigureOut">
              <a:rPr lang="zh-TW" altLang="en-US" smtClean="0"/>
              <a:t>2025/10/10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50C15C6-F48F-1588-3569-C51213406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CB7370D-2A7C-C803-E3FF-7B90EC868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291E9-3283-433F-B022-093F34A7A6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5788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6C8B11-F4B6-2007-1DCD-3179183B8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2EB0F0B-BD88-0B66-8E76-12283FCF46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0D65645-9ABA-D817-85AC-808194F09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5779365-ABCB-A972-26A4-AAA6F220E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8BFC-BB71-494A-A421-29E6F0052449}" type="datetimeFigureOut">
              <a:rPr lang="zh-TW" altLang="en-US" smtClean="0"/>
              <a:t>2025/10/10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EAC0E41-69D0-D5D3-FF12-594762F2F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C268F2C-38D5-F1BE-BA12-7DE5C2756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291E9-3283-433F-B022-093F34A7A6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7362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328B0B-9307-C80B-32CD-B34EBD455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D342644-0C2A-259B-4E18-0475C7439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22B3A8A-D602-8221-96BF-0D44D0800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8BFC-BB71-494A-A421-29E6F0052449}" type="datetimeFigureOut">
              <a:rPr lang="zh-TW" altLang="en-US" smtClean="0"/>
              <a:t>2025/10/10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E6E87B8-588C-8171-7AFA-823737CA3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62E17D7-EC35-3799-65A1-7B3511EE1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291E9-3283-433F-B022-093F34A7A6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069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AECE085-EF0F-FA82-34A2-F39C32B87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12637A8-B8BE-5C31-302B-C0FB4F421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0E12E0D-AE5C-95F4-05AB-50BAE912F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8BFC-BB71-494A-A421-29E6F0052449}" type="datetimeFigureOut">
              <a:rPr lang="zh-TW" altLang="en-US" smtClean="0"/>
              <a:t>2025/10/10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883593-63FD-BA74-5803-56CD27831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262F6A7-0E97-346B-7F33-1E6B81D32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291E9-3283-433F-B022-093F34A7A6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6816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4C7264D-2304-AC2F-E0EC-24DC3E5A3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F901C1C-D05A-739C-66BF-E187F529D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1CE3D6-3D00-9F2C-6615-CFAD607FE6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B8BFC-BB71-494A-A421-29E6F0052449}" type="datetimeFigureOut">
              <a:rPr lang="zh-TW" altLang="en-US" smtClean="0"/>
              <a:t>2025/10/10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EA8512-895D-DCA1-458A-FA2732BE7C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21B9C6-264E-C41B-435A-7178529F76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291E9-3283-433F-B022-093F34A7A63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1108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5A997B-9590-8C87-FBD3-302027294F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4F485AE-30BA-C0A5-6116-76970D498F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6F8556C-48E0-ED3B-2FC7-A4E71F38A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73113"/>
            <a:ext cx="12192000" cy="5310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9450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F0D266-A3ED-D642-9A79-994509C7E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電腦新生．永續智慧教育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32C51A-66A0-94D9-5FCB-222086B18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443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BCF423-48AD-72C7-0B2A-F8D0F829A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ESG</a:t>
            </a:r>
            <a:r>
              <a:rPr lang="zh-TW" altLang="en-US" dirty="0"/>
              <a:t> 面向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BC0F6D-C600-C9E9-14AA-DADD2834D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1200" dirty="0"/>
              <a:t>E </a:t>
            </a:r>
            <a:r>
              <a:rPr lang="zh-TW" altLang="en-US" sz="1200" dirty="0"/>
              <a:t>面：綠色工廠 </a:t>
            </a:r>
            <a:r>
              <a:rPr lang="en-US" altLang="zh-TW" sz="1200" dirty="0"/>
              <a:t>/ </a:t>
            </a:r>
            <a:r>
              <a:rPr lang="zh-TW" altLang="en-US" sz="1200" dirty="0"/>
              <a:t>綠色製造 </a:t>
            </a:r>
            <a:r>
              <a:rPr lang="en-US" altLang="zh-TW" sz="1200" dirty="0"/>
              <a:t>/ </a:t>
            </a:r>
            <a:r>
              <a:rPr lang="zh-TW" altLang="en-US" sz="1200" dirty="0"/>
              <a:t>循環經濟</a:t>
            </a:r>
            <a:br>
              <a:rPr lang="zh-TW" altLang="en-US" sz="1200" dirty="0"/>
            </a:br>
            <a:r>
              <a:rPr lang="zh-TW" altLang="en-US" sz="1200" dirty="0"/>
              <a:t>綠色工廠：降低製造與運營過程對環境的負面影響。綠色製造：將廢棄物減量、資源循環、低碳排放納入製造流程。循環經濟：資源再利用、延長產品使用壽命，避免一次性浪費。本提案的實踐舊電腦翻新再利用將企業汰換的電腦進行檢測、維修與系統更新，使其可以再投入使用。避免大量電子廢棄物進入垃圾場或焚化處理。減碳與資源效益每年翻新 </a:t>
            </a:r>
            <a:r>
              <a:rPr lang="en-US" altLang="zh-TW" sz="1200" dirty="0"/>
              <a:t>200–500 </a:t>
            </a:r>
            <a:r>
              <a:rPr lang="zh-TW" altLang="en-US" sz="1200" dirty="0"/>
              <a:t>台電腦，估計減少 </a:t>
            </a:r>
            <a:r>
              <a:rPr lang="en-US" altLang="zh-TW" sz="1200" dirty="0"/>
              <a:t>80–200 </a:t>
            </a:r>
            <a:r>
              <a:rPr lang="zh-TW" altLang="en-US" sz="1200" dirty="0"/>
              <a:t>公噸 </a:t>
            </a:r>
            <a:r>
              <a:rPr lang="en-US" altLang="zh-TW" sz="1200" dirty="0"/>
              <a:t>CO₂ </a:t>
            </a:r>
            <a:r>
              <a:rPr lang="zh-TW" altLang="en-US" sz="1200" dirty="0"/>
              <a:t>排放。延長電腦使用壽命，降低新設備生產與運輸的能源消耗。循環經濟模式建立「企業回收 → 翻新 → 社區使用 → 回饋企業」閉環，形成可持續的資源循環體系。</a:t>
            </a:r>
            <a:endParaRPr lang="en-US" altLang="zh-TW" sz="1200" dirty="0"/>
          </a:p>
          <a:p>
            <a:pPr marL="0" indent="0">
              <a:buNone/>
            </a:pPr>
            <a:br>
              <a:rPr lang="zh-TW" altLang="en-US" sz="1200" dirty="0"/>
            </a:br>
            <a:r>
              <a:rPr lang="zh-TW" altLang="en-US" sz="1200" dirty="0"/>
              <a:t>✅ </a:t>
            </a:r>
            <a:r>
              <a:rPr lang="en-US" altLang="zh-TW" sz="1200" dirty="0"/>
              <a:t>ESG E </a:t>
            </a:r>
            <a:r>
              <a:rPr lang="zh-TW" altLang="en-US" sz="1200" dirty="0"/>
              <a:t>面價值：同時兼顧環境減碳、資源再利用與製造流程的永續化。</a:t>
            </a:r>
            <a:endParaRPr lang="en-US" altLang="zh-TW" sz="1200" dirty="0"/>
          </a:p>
          <a:p>
            <a:pPr marL="0" indent="0">
              <a:buNone/>
            </a:pPr>
            <a:br>
              <a:rPr lang="zh-TW" altLang="en-US" sz="1200" dirty="0"/>
            </a:br>
            <a:r>
              <a:rPr lang="en-US" altLang="zh-TW" sz="1200" dirty="0"/>
              <a:t>S </a:t>
            </a:r>
            <a:r>
              <a:rPr lang="zh-TW" altLang="en-US" sz="1200" dirty="0"/>
              <a:t>面：社會共融 </a:t>
            </a:r>
            <a:r>
              <a:rPr lang="en-US" altLang="zh-TW" sz="1200" dirty="0"/>
              <a:t>/ </a:t>
            </a:r>
            <a:r>
              <a:rPr lang="zh-TW" altLang="en-US" sz="1200" dirty="0"/>
              <a:t>社會關懷</a:t>
            </a:r>
            <a:endParaRPr lang="en-US" altLang="zh-TW" sz="1200" dirty="0"/>
          </a:p>
          <a:p>
            <a:pPr marL="0" indent="0">
              <a:buNone/>
            </a:pPr>
            <a:r>
              <a:rPr lang="zh-TW" altLang="en-US" sz="1200" dirty="0"/>
              <a:t>社會共融：讓不同社群（弱勢、偏鄉、年齡層不同）共享資源與機會。社會關懷：透過企業行動改善社會弱勢群體的生活與教育環境。本提案的實踐偏鄉與弱勢學生受惠捐贈再生電腦，讓學生能接觸資訊科技，縮小數位落差。每年受惠學生預估 </a:t>
            </a:r>
            <a:r>
              <a:rPr lang="en-US" altLang="zh-TW" sz="1200" dirty="0"/>
              <a:t>100–200 </a:t>
            </a:r>
            <a:r>
              <a:rPr lang="zh-TW" altLang="en-US" sz="1200" dirty="0"/>
              <a:t>人以上。數位教育工作坊提供基本電腦操作、網路安全與線上學習資源教學。提升學生資訊素養與學習能力，促進教育公平。社區共創與員工參與鼓勵員工參與翻新、配送與教育課程，增加社會參與感與企業認同感。</a:t>
            </a:r>
            <a:endParaRPr lang="en-US" altLang="zh-TW" sz="1200" dirty="0"/>
          </a:p>
          <a:p>
            <a:pPr marL="0" indent="0">
              <a:buNone/>
            </a:pPr>
            <a:br>
              <a:rPr lang="zh-TW" altLang="en-US" sz="1200" dirty="0"/>
            </a:br>
            <a:r>
              <a:rPr lang="zh-TW" altLang="en-US" sz="1200" dirty="0"/>
              <a:t>✅ </a:t>
            </a:r>
            <a:r>
              <a:rPr lang="en-US" altLang="zh-TW" sz="1200" dirty="0"/>
              <a:t>ESG S </a:t>
            </a:r>
            <a:r>
              <a:rPr lang="zh-TW" altLang="en-US" sz="1200" dirty="0"/>
              <a:t>面價值：落實企業社會責任，強化教育公平與社區關懷，促進多方共贏。</a:t>
            </a:r>
          </a:p>
          <a:p>
            <a:pPr marL="0" indent="0">
              <a:buNone/>
            </a:pPr>
            <a:r>
              <a:rPr lang="zh-TW" altLang="en-US" sz="1200" dirty="0"/>
              <a:t>📌 總結</a:t>
            </a:r>
            <a:br>
              <a:rPr lang="zh-TW" altLang="en-US" sz="1200" dirty="0"/>
            </a:br>
            <a:r>
              <a:rPr lang="en-US" altLang="zh-TW" sz="1200" dirty="0"/>
              <a:t>E </a:t>
            </a:r>
            <a:r>
              <a:rPr lang="zh-TW" altLang="en-US" sz="1200" dirty="0"/>
              <a:t>面：透過翻新舊電腦與循環使用，達到綠色製造與循環經濟目標。</a:t>
            </a:r>
            <a:br>
              <a:rPr lang="zh-TW" altLang="en-US" sz="1200" dirty="0"/>
            </a:br>
            <a:r>
              <a:rPr lang="en-US" altLang="zh-TW" sz="1200" dirty="0"/>
              <a:t>S </a:t>
            </a:r>
            <a:r>
              <a:rPr lang="zh-TW" altLang="en-US" sz="1200" dirty="0"/>
              <a:t>面：透過捐贈與教育輔導，實現社會共融與社會關懷，改善弱勢族群的數位落差。</a:t>
            </a:r>
          </a:p>
          <a:p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84585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D8480C-FA69-E435-9033-155153AAA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519" y="187572"/>
            <a:ext cx="10515600" cy="493466"/>
          </a:xfrm>
        </p:spPr>
        <p:txBody>
          <a:bodyPr>
            <a:noAutofit/>
          </a:bodyPr>
          <a:lstStyle/>
          <a:p>
            <a:r>
              <a:rPr lang="zh-TW" altLang="en-US" sz="2800" dirty="0"/>
              <a:t>動機來源與創新分析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406958-D918-C2C0-D16D-9054D3A69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726" y="911225"/>
            <a:ext cx="10515600" cy="4351338"/>
          </a:xfrm>
        </p:spPr>
        <p:txBody>
          <a:bodyPr>
            <a:normAutofit/>
          </a:bodyPr>
          <a:lstStyle/>
          <a:p>
            <a:r>
              <a:rPr lang="zh-TW" altLang="en-US" sz="1100" dirty="0"/>
              <a:t>動機</a:t>
            </a:r>
            <a:r>
              <a:rPr lang="en-US" altLang="zh-TW" sz="1100" dirty="0"/>
              <a:t>:</a:t>
            </a:r>
          </a:p>
          <a:p>
            <a:r>
              <a:rPr lang="zh-TW" altLang="en-US" sz="1100" dirty="0">
                <a:effectLst/>
              </a:rPr>
              <a:t>環境保護：企業每年汰換大量電子設備，如果直接報廢，會造成電子廢棄物累積，增加重金屬及有害物質污染的風險。</a:t>
            </a:r>
          </a:p>
          <a:p>
            <a:r>
              <a:rPr lang="zh-TW" altLang="en-US" sz="1100" dirty="0">
                <a:effectLst/>
              </a:rPr>
              <a:t>社會公益：偏鄉地區及弱勢家庭學生缺乏適合的學習工具，教育資源不均衡。</a:t>
            </a:r>
          </a:p>
          <a:p>
            <a:r>
              <a:rPr lang="zh-TW" altLang="en-US" sz="1100" dirty="0">
                <a:effectLst/>
              </a:rPr>
              <a:t>企業 </a:t>
            </a:r>
            <a:r>
              <a:rPr lang="en-US" altLang="zh-TW" sz="1100" dirty="0">
                <a:effectLst/>
              </a:rPr>
              <a:t>ESG </a:t>
            </a:r>
            <a:r>
              <a:rPr lang="zh-TW" altLang="en-US" sz="1100" dirty="0">
                <a:effectLst/>
              </a:rPr>
              <a:t>形象：企業可藉由資源再利用與社會關懷專案，展現對永續環境與社會責任的承諾。</a:t>
            </a:r>
          </a:p>
          <a:p>
            <a:r>
              <a:rPr lang="zh-TW" altLang="en-US" sz="1100" dirty="0"/>
              <a:t>與傳統 </a:t>
            </a:r>
            <a:r>
              <a:rPr lang="en-US" altLang="zh-TW" sz="1100" dirty="0"/>
              <a:t>CSR </a:t>
            </a:r>
            <a:r>
              <a:rPr lang="zh-TW" altLang="en-US" sz="1100" dirty="0"/>
              <a:t>的差異</a:t>
            </a:r>
            <a:br>
              <a:rPr lang="zh-TW" altLang="en-US" sz="1100" dirty="0"/>
            </a:br>
            <a:r>
              <a:rPr lang="zh-TW" altLang="en-US" sz="1100" dirty="0"/>
              <a:t>傳統做法：企業多是單純捐款或一次性捐贈設備。</a:t>
            </a:r>
            <a:br>
              <a:rPr lang="zh-TW" altLang="en-US" sz="1100" dirty="0"/>
            </a:br>
            <a:r>
              <a:rPr lang="zh-TW" altLang="en-US" sz="1100" dirty="0"/>
              <a:t>本計畫創新點：</a:t>
            </a:r>
            <a:br>
              <a:rPr lang="zh-TW" altLang="en-US" sz="1100" dirty="0"/>
            </a:br>
            <a:r>
              <a:rPr lang="zh-TW" altLang="en-US" sz="1100" dirty="0"/>
              <a:t>結合環境永續：透過回收、檢測、翻新，延長電腦使用壽命，減少電子廢棄物。</a:t>
            </a:r>
            <a:br>
              <a:rPr lang="zh-TW" altLang="en-US" sz="1100" dirty="0"/>
            </a:br>
            <a:r>
              <a:rPr lang="zh-TW" altLang="en-US" sz="1100" dirty="0"/>
              <a:t>教育深化：不只是給電腦，還加上數位教育工作坊，確保受贈者能有效運用設備。</a:t>
            </a:r>
            <a:br>
              <a:rPr lang="zh-TW" altLang="en-US" sz="1100" dirty="0"/>
            </a:br>
            <a:r>
              <a:rPr lang="zh-TW" altLang="en-US" sz="1100" dirty="0"/>
              <a:t>雙重 </a:t>
            </a:r>
            <a:r>
              <a:rPr lang="en-US" altLang="zh-TW" sz="1100" dirty="0"/>
              <a:t>ESG </a:t>
            </a:r>
            <a:r>
              <a:rPr lang="zh-TW" altLang="en-US" sz="1100" dirty="0"/>
              <a:t>對應：同時涵蓋 綠色製造</a:t>
            </a:r>
            <a:r>
              <a:rPr lang="en-US" altLang="zh-TW" sz="1100" dirty="0"/>
              <a:t>/</a:t>
            </a:r>
            <a:r>
              <a:rPr lang="zh-TW" altLang="en-US" sz="1100" dirty="0"/>
              <a:t>低碳生活（環境） 與 社會關懷（社會），不只是單點 </a:t>
            </a:r>
            <a:r>
              <a:rPr lang="en-US" altLang="zh-TW" sz="1100" dirty="0"/>
              <a:t>CSR</a:t>
            </a:r>
            <a:r>
              <a:rPr lang="zh-TW" altLang="en-US" sz="1100" dirty="0"/>
              <a:t>。</a:t>
            </a:r>
            <a:br>
              <a:rPr lang="zh-TW" altLang="en-US" sz="1100" dirty="0"/>
            </a:br>
            <a:r>
              <a:rPr lang="zh-TW" altLang="en-US" sz="1100" dirty="0"/>
              <a:t>量化效益：能以再利用電腦數量、減碳量、受惠學生數具體衡量。</a:t>
            </a:r>
            <a:br>
              <a:rPr lang="zh-TW" altLang="en-US" sz="1100" dirty="0"/>
            </a:br>
            <a:r>
              <a:rPr lang="zh-TW" altLang="en-US" sz="1100" dirty="0"/>
              <a:t>👉 因此，此計畫相對傳統 </a:t>
            </a:r>
            <a:r>
              <a:rPr lang="en-US" altLang="zh-TW" sz="1100" dirty="0"/>
              <a:t>CSR </a:t>
            </a:r>
            <a:r>
              <a:rPr lang="zh-TW" altLang="en-US" sz="1100" dirty="0"/>
              <a:t>或單純捐贈模式，具顯著創新性，尤其是環境面與教育面的結合。</a:t>
            </a:r>
          </a:p>
          <a:p>
            <a:r>
              <a:rPr lang="zh-TW" altLang="en-US" sz="1100" dirty="0"/>
              <a:t>日月光有進行「電腦再生計畫」的紀錄，提及將汰換的筆電、主機、螢幕與周邊設備經過回收再利用，捐贈偏遠地區學校及弱勢團體。在 “電腦再生計畫” 的上下文中提到：「其中高雄廠自</a:t>
            </a:r>
            <a:r>
              <a:rPr lang="en-US" altLang="zh-TW" sz="1100" dirty="0"/>
              <a:t>2009</a:t>
            </a:r>
            <a:r>
              <a:rPr lang="zh-TW" altLang="en-US" sz="1100" dirty="0"/>
              <a:t>年參與華碩電腦的</a:t>
            </a:r>
            <a:r>
              <a:rPr lang="en-US" altLang="zh-TW" sz="1100" dirty="0"/>
              <a:t>『</a:t>
            </a:r>
            <a:r>
              <a:rPr lang="zh-TW" altLang="en-US" sz="1100" dirty="0"/>
              <a:t>再生電腦 希望工程</a:t>
            </a:r>
            <a:r>
              <a:rPr lang="en-US" altLang="zh-TW" sz="1100" dirty="0"/>
              <a:t>』</a:t>
            </a:r>
            <a:r>
              <a:rPr lang="zh-TW" altLang="en-US" sz="1100" dirty="0"/>
              <a:t>活動，經由專業團隊進行維修後，組成再生電腦，捐贈給偏遠地區學校及弱勢團體。」 等與提案類似的作為。</a:t>
            </a:r>
          </a:p>
          <a:p>
            <a:r>
              <a:rPr lang="zh-TW" altLang="en-US" sz="1100" dirty="0"/>
              <a:t>引用來源</a:t>
            </a:r>
            <a:r>
              <a:rPr lang="en-US" altLang="zh-TW" sz="1100" dirty="0"/>
              <a:t>:</a:t>
            </a:r>
            <a:r>
              <a:rPr lang="zh-TW" altLang="en-US" sz="1100" dirty="0"/>
              <a:t>日月光 </a:t>
            </a:r>
            <a:r>
              <a:rPr lang="en-US" altLang="zh-TW" sz="1100" dirty="0"/>
              <a:t>2015 CSR </a:t>
            </a:r>
            <a:r>
              <a:rPr lang="zh-TW" altLang="en-US" sz="1100" dirty="0"/>
              <a:t>報告，第 </a:t>
            </a:r>
            <a:r>
              <a:rPr lang="en-US" altLang="zh-TW" sz="1100" dirty="0"/>
              <a:t>50 </a:t>
            </a:r>
            <a:r>
              <a:rPr lang="zh-TW" altLang="en-US" sz="1100" dirty="0"/>
              <a:t>頁（</a:t>
            </a:r>
            <a:r>
              <a:rPr lang="en-US" altLang="zh-TW" sz="1100" dirty="0"/>
              <a:t>PDF</a:t>
            </a:r>
            <a:r>
              <a:rPr lang="zh-TW" altLang="en-US" sz="1100" dirty="0"/>
              <a:t>） </a:t>
            </a:r>
            <a:r>
              <a:rPr lang="en-US" altLang="zh-TW" sz="1100" dirty="0"/>
              <a:t>76027628_2311_104_CSRreport.pdf</a:t>
            </a:r>
          </a:p>
          <a:p>
            <a:endParaRPr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195763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2C5076-3F39-C40B-B483-6AD7BAFAE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561" y="185029"/>
            <a:ext cx="10515600" cy="496008"/>
          </a:xfrm>
        </p:spPr>
        <p:txBody>
          <a:bodyPr>
            <a:normAutofit/>
          </a:bodyPr>
          <a:lstStyle/>
          <a:p>
            <a:r>
              <a:rPr lang="zh-TW" altLang="en-US" sz="2800" dirty="0"/>
              <a:t>動機來源與創新分析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92DE33-37BD-0552-4716-8BBBD9012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848" y="949911"/>
            <a:ext cx="10515600" cy="47742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1200" b="1" dirty="0"/>
              <a:t>🌱 動機來源</a:t>
            </a:r>
          </a:p>
          <a:p>
            <a:r>
              <a:rPr lang="zh-TW" altLang="en-US" sz="1200" b="1" dirty="0"/>
              <a:t>環境永續</a:t>
            </a:r>
            <a:r>
              <a:rPr lang="zh-TW" altLang="en-US" sz="1200" dirty="0"/>
              <a:t>：企業每年汰換大量電子設備，若直接報廢將造成電子廢棄物與污染風險。</a:t>
            </a:r>
          </a:p>
          <a:p>
            <a:r>
              <a:rPr lang="zh-TW" altLang="en-US" sz="1200" b="1" dirty="0"/>
              <a:t>社會關懷</a:t>
            </a:r>
            <a:r>
              <a:rPr lang="zh-TW" altLang="en-US" sz="1200" dirty="0"/>
              <a:t>：偏鄉與弱勢學生缺乏學習資源，教育落差持續擴大。</a:t>
            </a:r>
          </a:p>
          <a:p>
            <a:r>
              <a:rPr lang="en-US" altLang="zh-TW" sz="1200" b="1" dirty="0"/>
              <a:t>ESG </a:t>
            </a:r>
            <a:r>
              <a:rPr lang="zh-TW" altLang="en-US" sz="1200" b="1" dirty="0"/>
              <a:t>形象</a:t>
            </a:r>
            <a:r>
              <a:rPr lang="zh-TW" altLang="en-US" sz="1200" dirty="0"/>
              <a:t>：企業可藉由資源再利用與教育支持，實踐環境與社會雙重永續。</a:t>
            </a:r>
            <a:endParaRPr lang="en-US" altLang="zh-TW" sz="1200" dirty="0"/>
          </a:p>
          <a:p>
            <a:pPr marL="0" indent="0">
              <a:buNone/>
            </a:pPr>
            <a:r>
              <a:rPr lang="zh-TW" altLang="en-US" sz="1200" dirty="0"/>
              <a:t>日月光 </a:t>
            </a:r>
            <a:r>
              <a:rPr lang="en-US" altLang="zh-TW" sz="1200" dirty="0"/>
              <a:t>2015 CSR </a:t>
            </a:r>
            <a:r>
              <a:rPr lang="zh-TW" altLang="en-US" sz="1200" dirty="0"/>
              <a:t>報告書提到 </a:t>
            </a:r>
            <a:r>
              <a:rPr lang="en-US" altLang="zh-TW" sz="1200" dirty="0"/>
              <a:t>:</a:t>
            </a:r>
            <a:r>
              <a:rPr lang="zh-TW" altLang="en-US" sz="1200" dirty="0"/>
              <a:t> 高雄廠自 </a:t>
            </a:r>
            <a:r>
              <a:rPr lang="en-US" altLang="zh-TW" sz="1200" dirty="0"/>
              <a:t>2009 </a:t>
            </a:r>
            <a:r>
              <a:rPr lang="zh-TW" altLang="en-US" sz="1200" dirty="0"/>
              <a:t>年參與華碩電腦的「再生電腦 希望工程」活動，經由專業團隊進行維修後，組成再生電腦，捐贈給偏遠地區學校及弱勢團體。</a:t>
            </a:r>
            <a:endParaRPr lang="en-US" altLang="zh-TW" sz="1200" dirty="0"/>
          </a:p>
          <a:p>
            <a:pPr marL="0" indent="0">
              <a:buNone/>
            </a:pPr>
            <a:r>
              <a:rPr lang="zh-TW" altLang="en-US" sz="1200" dirty="0"/>
              <a:t>💡</a:t>
            </a:r>
            <a:r>
              <a:rPr lang="zh-TW" altLang="en-US" sz="1200" b="1" dirty="0"/>
              <a:t>創新分析</a:t>
            </a:r>
            <a:endParaRPr lang="en-US" altLang="zh-TW" sz="1200" b="1" dirty="0"/>
          </a:p>
          <a:p>
            <a:pPr marL="0" indent="0">
              <a:buNone/>
            </a:pPr>
            <a:r>
              <a:rPr lang="zh-TW" altLang="en-US" sz="1200" dirty="0"/>
              <a:t>本計畫延伸自華碩「再生電腦數位培育計畫」，在環保與教育基礎上更進一步。以「在地共創、智慧延壽、教育深化」為核心，建立社區再生工作坊，結合在地議題推動 </a:t>
            </a:r>
            <a:r>
              <a:rPr lang="en-US" altLang="zh-TW" sz="1200" dirty="0"/>
              <a:t>STEAM </a:t>
            </a:r>
            <a:r>
              <a:rPr lang="zh-TW" altLang="en-US" sz="1200" dirty="0"/>
              <a:t>教育，並以數據儀表板公開減碳與受惠成果，此外延伸導入 </a:t>
            </a:r>
            <a:r>
              <a:rPr lang="en-US" altLang="zh-TW" sz="1200" dirty="0"/>
              <a:t>AI </a:t>
            </a:r>
            <a:r>
              <a:rPr lang="zh-TW" altLang="en-US" sz="1200" dirty="0"/>
              <a:t>健檢與預測維護，延長設備壽命，並提倡跨界合作與資源共享，打造可持續、可量化的 </a:t>
            </a:r>
            <a:r>
              <a:rPr lang="en-US" altLang="zh-TW" sz="1200" dirty="0"/>
              <a:t>ESG </a:t>
            </a:r>
            <a:r>
              <a:rPr lang="zh-TW" altLang="en-US" sz="1200" dirty="0"/>
              <a:t>行動新模式。</a:t>
            </a:r>
          </a:p>
          <a:p>
            <a:pPr marL="0" indent="0">
              <a:buNone/>
            </a:pPr>
            <a:r>
              <a:rPr lang="zh-TW" altLang="en-US" sz="1200" dirty="0"/>
              <a:t>綜合而言，本計畫不僅延續了華碩方案的環保與教育精神，更進一步實現「</a:t>
            </a:r>
            <a:r>
              <a:rPr lang="zh-TW" altLang="en-US" sz="1200" b="1" dirty="0"/>
              <a:t>社區參與 </a:t>
            </a:r>
            <a:r>
              <a:rPr lang="en-US" altLang="zh-TW" sz="1200" b="1" dirty="0"/>
              <a:t>× </a:t>
            </a:r>
            <a:r>
              <a:rPr lang="zh-TW" altLang="en-US" sz="1200" b="1" dirty="0"/>
              <a:t>智慧管理 </a:t>
            </a:r>
            <a:r>
              <a:rPr lang="en-US" altLang="zh-TW" sz="1200" b="1" dirty="0"/>
              <a:t>× </a:t>
            </a:r>
            <a:r>
              <a:rPr lang="zh-TW" altLang="en-US" sz="1200" b="1" dirty="0"/>
              <a:t>可持續教育</a:t>
            </a:r>
            <a:r>
              <a:rPr lang="zh-TW" altLang="en-US" sz="1200" dirty="0"/>
              <a:t>」的創新模式，讓再生電腦真正成為推動環境永續與社會共榮的核心動能。</a:t>
            </a:r>
            <a:endParaRPr lang="en-US" altLang="zh-TW" sz="1200" dirty="0"/>
          </a:p>
        </p:txBody>
      </p:sp>
    </p:spTree>
    <p:extLst>
      <p:ext uri="{BB962C8B-B14F-4D97-AF65-F5344CB8AC3E}">
        <p14:creationId xmlns:p14="http://schemas.microsoft.com/office/powerpoint/2010/main" val="853560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B9BE7E-17B2-CBA3-7DBE-E3D41196A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907" y="190871"/>
            <a:ext cx="10515600" cy="478253"/>
          </a:xfrm>
        </p:spPr>
        <p:txBody>
          <a:bodyPr>
            <a:normAutofit/>
          </a:bodyPr>
          <a:lstStyle/>
          <a:p>
            <a:r>
              <a:rPr lang="zh-TW" altLang="en-US" sz="2800" dirty="0"/>
              <a:t>提案目的及計畫大綱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0CD8F1-902A-5227-93DC-ADF159310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906" y="878891"/>
            <a:ext cx="11546150" cy="5912526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提案目的</a:t>
            </a:r>
            <a:r>
              <a:rPr lang="en-US" altLang="zh-TW" sz="1100" dirty="0"/>
              <a:t>:</a:t>
            </a:r>
            <a:r>
              <a:rPr lang="zh-TW" altLang="en-US" sz="1100" dirty="0"/>
              <a:t> </a:t>
            </a:r>
            <a:endParaRPr lang="en-US" altLang="zh-TW" sz="1100" dirty="0"/>
          </a:p>
          <a:p>
            <a:pPr>
              <a:lnSpc>
                <a:spcPct val="100000"/>
              </a:lnSpc>
            </a:pPr>
            <a:r>
              <a:rPr lang="zh-TW" altLang="en-US" sz="1100" dirty="0"/>
              <a:t>企業面</a:t>
            </a:r>
            <a:r>
              <a:rPr lang="en-US" altLang="zh-TW" sz="1100" dirty="0"/>
              <a:t>:</a:t>
            </a:r>
            <a:r>
              <a:rPr lang="zh-TW" altLang="en-US" sz="1100" dirty="0"/>
              <a:t> 企業每年汰換大量電腦設備，多數以報廢處理，增加電子廢棄物處理成本與環境負擔。</a:t>
            </a:r>
            <a:endParaRPr lang="en-US" altLang="zh-TW" sz="1100" dirty="0"/>
          </a:p>
          <a:p>
            <a:pPr>
              <a:lnSpc>
                <a:spcPct val="100000"/>
              </a:lnSpc>
            </a:pPr>
            <a:r>
              <a:rPr lang="zh-TW" altLang="en-US" sz="1100" dirty="0"/>
              <a:t>社會面</a:t>
            </a:r>
            <a:r>
              <a:rPr lang="en-US" altLang="zh-TW" sz="1100" dirty="0"/>
              <a:t>:</a:t>
            </a:r>
            <a:r>
              <a:rPr lang="zh-TW" altLang="en-US" sz="1100" dirty="0"/>
              <a:t> 偏鄉與弱勢學生缺乏電腦設備，導致數位落差持續擴大。然而獲得設備後缺乏數位教育資源，難以真正提升資訊素養與學習機會。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因此透過本計畫解決公司在電子廢棄物處理，同時縮短社會數位落差，達到「環境減碳」與「社會公益」的雙贏成效。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📘 計畫大綱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b="1" dirty="0"/>
              <a:t>設備回收與檢測</a:t>
            </a:r>
            <a:endParaRPr lang="en-US" altLang="zh-TW" sz="1100" b="1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建立公司內部汰換電腦篩檢機制，挑選可再利用之設備。與專業 </a:t>
            </a:r>
            <a:r>
              <a:rPr lang="en-US" altLang="zh-TW" sz="1100" dirty="0"/>
              <a:t>IT </a:t>
            </a:r>
            <a:r>
              <a:rPr lang="zh-TW" altLang="en-US" sz="1100" dirty="0"/>
              <a:t>維修單位合作，進行硬體檢修、零件更換、清除舊資料，確保安全與效能。</a:t>
            </a:r>
            <a:br>
              <a:rPr lang="zh-TW" altLang="en-US" sz="1100" dirty="0"/>
            </a:br>
            <a:r>
              <a:rPr lang="zh-TW" altLang="en-US" sz="1100" b="1" dirty="0"/>
              <a:t>再利用與捐贈</a:t>
            </a:r>
            <a:br>
              <a:rPr lang="zh-TW" altLang="en-US" sz="1100" dirty="0"/>
            </a:br>
            <a:r>
              <a:rPr lang="zh-TW" altLang="en-US" sz="1100" dirty="0"/>
              <a:t>經檢測合格的電腦，統一安裝合法授權的基礎軟體（如辦公套件、教育平台）。配合教育單位或 </a:t>
            </a:r>
            <a:r>
              <a:rPr lang="en-US" altLang="zh-TW" sz="1100" dirty="0"/>
              <a:t>NGO</a:t>
            </a:r>
            <a:r>
              <a:rPr lang="zh-TW" altLang="en-US" sz="1100" dirty="0"/>
              <a:t>，捐贈至偏鄉學校與弱勢家庭。</a:t>
            </a:r>
            <a:br>
              <a:rPr lang="zh-TW" altLang="en-US" sz="1100" dirty="0"/>
            </a:br>
            <a:r>
              <a:rPr lang="zh-TW" altLang="en-US" sz="1100" b="1" dirty="0"/>
              <a:t>數位教育工作坊</a:t>
            </a:r>
            <a:br>
              <a:rPr lang="zh-TW" altLang="en-US" sz="1100" b="1" dirty="0"/>
            </a:br>
            <a:r>
              <a:rPr lang="zh-TW" altLang="en-US" sz="1100" dirty="0"/>
              <a:t>與在地學校</a:t>
            </a:r>
            <a:r>
              <a:rPr lang="en-US" altLang="zh-TW" sz="1100" dirty="0"/>
              <a:t>/</a:t>
            </a:r>
            <a:r>
              <a:rPr lang="zh-TW" altLang="en-US" sz="1100" dirty="0"/>
              <a:t>社福單位合作，提供學生基礎電腦技能與網路安全教育。設置線上支援服務，協助維護使用問題。</a:t>
            </a:r>
            <a:br>
              <a:rPr lang="zh-TW" altLang="en-US" sz="1100" dirty="0"/>
            </a:br>
            <a:r>
              <a:rPr lang="zh-TW" altLang="en-US" sz="1100" b="1" dirty="0"/>
              <a:t>效益量化與追蹤</a:t>
            </a:r>
            <a:br>
              <a:rPr lang="zh-TW" altLang="en-US" sz="1100" dirty="0"/>
            </a:br>
            <a:r>
              <a:rPr lang="zh-TW" altLang="en-US" sz="1100" dirty="0"/>
              <a:t>預計每年再利用 </a:t>
            </a:r>
            <a:r>
              <a:rPr lang="en-US" altLang="zh-TW" sz="1100" dirty="0"/>
              <a:t>200 ~ 500 </a:t>
            </a:r>
            <a:r>
              <a:rPr lang="zh-TW" altLang="en-US" sz="1100" dirty="0"/>
              <a:t>台電腦，減少 約 </a:t>
            </a:r>
            <a:r>
              <a:rPr lang="en-US" altLang="zh-TW" sz="1100" dirty="0"/>
              <a:t>80~200 </a:t>
            </a:r>
            <a:r>
              <a:rPr lang="zh-TW" altLang="en-US" sz="1100" dirty="0"/>
              <a:t>噸 </a:t>
            </a:r>
            <a:r>
              <a:rPr lang="en-US" altLang="zh-TW" sz="1100" dirty="0"/>
              <a:t>CO₂ </a:t>
            </a:r>
            <a:r>
              <a:rPr lang="zh-TW" altLang="en-US" sz="1100" dirty="0"/>
              <a:t>排放，受惠學生數 </a:t>
            </a:r>
            <a:r>
              <a:rPr lang="en-US" altLang="zh-TW" sz="1100" dirty="0"/>
              <a:t>200 ~ 500 </a:t>
            </a:r>
            <a:r>
              <a:rPr lang="zh-TW" altLang="en-US" sz="1100" dirty="0"/>
              <a:t>人以上。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第一階段（</a:t>
            </a:r>
            <a:r>
              <a:rPr lang="en-US" altLang="zh-TW" sz="1100" dirty="0"/>
              <a:t>0–3 </a:t>
            </a:r>
            <a:r>
              <a:rPr lang="zh-TW" altLang="en-US" sz="1100" dirty="0"/>
              <a:t>個月）建立跨部門專案小組（資訊、永續、社會責任部門）。完成高雄廠舊電腦盤點，篩選出首批 </a:t>
            </a:r>
            <a:r>
              <a:rPr lang="en-US" altLang="zh-TW" sz="1100" dirty="0"/>
              <a:t>200 </a:t>
            </a:r>
            <a:r>
              <a:rPr lang="zh-TW" altLang="en-US" sz="1100" dirty="0"/>
              <a:t>台可翻新設備。與 </a:t>
            </a:r>
            <a:r>
              <a:rPr lang="en-US" altLang="zh-TW" sz="1100" dirty="0"/>
              <a:t>IT </a:t>
            </a:r>
            <a:r>
              <a:rPr lang="zh-TW" altLang="en-US" sz="1100" dirty="0"/>
              <a:t>維修及 </a:t>
            </a:r>
            <a:r>
              <a:rPr lang="en-US" altLang="zh-TW" sz="1100" dirty="0"/>
              <a:t>NGO </a:t>
            </a:r>
            <a:r>
              <a:rPr lang="zh-TW" altLang="en-US" sz="1100" dirty="0"/>
              <a:t>簽訂合作備忘錄。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階段目標：完成制度化流程設計，並準備首批再生電腦。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第二階段（</a:t>
            </a:r>
            <a:r>
              <a:rPr lang="en-US" altLang="zh-TW" sz="1100" dirty="0"/>
              <a:t>4–6 </a:t>
            </a:r>
            <a:r>
              <a:rPr lang="zh-TW" altLang="en-US" sz="1100" dirty="0"/>
              <a:t>個月）啟動翻新流程，進行硬體檢測與資料清除。統一安裝合法授權軟體與教育資源。首批電腦捐贈至 </a:t>
            </a:r>
            <a:r>
              <a:rPr lang="en-US" altLang="zh-TW" sz="1100" dirty="0"/>
              <a:t>3–5 </a:t>
            </a:r>
            <a:r>
              <a:rPr lang="zh-TW" altLang="en-US" sz="1100" dirty="0"/>
              <a:t>所偏鄉學校或社福機構。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階段目標：實際落地執行，完成首批捐贈，受惠學生達 </a:t>
            </a:r>
            <a:r>
              <a:rPr lang="en-US" altLang="zh-TW" sz="1100" dirty="0"/>
              <a:t>200 </a:t>
            </a:r>
            <a:r>
              <a:rPr lang="zh-TW" altLang="en-US" sz="1100" dirty="0"/>
              <a:t>人以上。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第三階段（</a:t>
            </a:r>
            <a:r>
              <a:rPr lang="en-US" altLang="zh-TW" sz="1100" dirty="0"/>
              <a:t>7–12 </a:t>
            </a:r>
            <a:r>
              <a:rPr lang="zh-TW" altLang="en-US" sz="1100" dirty="0"/>
              <a:t>個月）擴大至全年 </a:t>
            </a:r>
            <a:r>
              <a:rPr lang="en-US" altLang="zh-TW" sz="1100" dirty="0"/>
              <a:t>500 </a:t>
            </a:r>
            <a:r>
              <a:rPr lang="zh-TW" altLang="en-US" sz="1100" dirty="0"/>
              <a:t>台電腦翻新與捐贈。結合地方教育單位舉辦數位教育工作坊。建立追蹤平台，收集學生使用情況與 </a:t>
            </a:r>
            <a:r>
              <a:rPr lang="en-US" altLang="zh-TW" sz="1100" dirty="0"/>
              <a:t>ESG </a:t>
            </a:r>
            <a:r>
              <a:rPr lang="zh-TW" altLang="en-US" sz="1100" dirty="0"/>
              <a:t>數據（碳排減量、受惠人數）。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階段目標：形成可量化成效，完成 </a:t>
            </a:r>
            <a:r>
              <a:rPr lang="en-US" altLang="zh-TW" sz="1100" dirty="0"/>
              <a:t>ESG </a:t>
            </a:r>
            <a:r>
              <a:rPr lang="zh-TW" altLang="en-US" sz="1100" dirty="0"/>
              <a:t>年報數據輸入。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b="1" dirty="0"/>
              <a:t>跨部門合作任務分配</a:t>
            </a:r>
            <a:endParaRPr lang="en-US" altLang="zh-TW" sz="1100" b="1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資訊部門負責淘汰電腦設備檢測、資料清除、系統重灌與功能驗證，提供再生電腦使用教學資源。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環安衛部門確認電腦回收過程符合法規與環保要求。評估減碳效益，追蹤 </a:t>
            </a:r>
            <a:r>
              <a:rPr lang="en-US" altLang="zh-TW" sz="1100" dirty="0"/>
              <a:t>ESG </a:t>
            </a:r>
            <a:r>
              <a:rPr lang="zh-TW" altLang="en-US" sz="1100" dirty="0"/>
              <a:t>成效指標。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人資與教育訓練部門規劃志工參與，安排同仁培訓與社區數位課程。建立內部員工參與獎勵機制。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企業永續 </a:t>
            </a:r>
            <a:r>
              <a:rPr lang="en-US" altLang="zh-TW" sz="1100" dirty="0"/>
              <a:t>/ </a:t>
            </a:r>
            <a:r>
              <a:rPr lang="zh-TW" altLang="en-US" sz="1100" dirty="0"/>
              <a:t>公共事務部門與在地社區、學校、非營利組織合作，媒合需求，對外溝通與發布成果報告，提升企業形象。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財務部門規劃專案預算與資源分配，評估成本效益與長期投資回報。</a:t>
            </a:r>
            <a:endParaRPr lang="en-US" altLang="zh-TW" sz="1100" dirty="0"/>
          </a:p>
        </p:txBody>
      </p:sp>
    </p:spTree>
    <p:extLst>
      <p:ext uri="{BB962C8B-B14F-4D97-AF65-F5344CB8AC3E}">
        <p14:creationId xmlns:p14="http://schemas.microsoft.com/office/powerpoint/2010/main" val="3956036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22B03-9489-96CC-94AA-8BBD7598C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AF629A-27B3-AAE9-007C-3F96F696E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907" y="190871"/>
            <a:ext cx="10515600" cy="478253"/>
          </a:xfrm>
        </p:spPr>
        <p:txBody>
          <a:bodyPr>
            <a:normAutofit/>
          </a:bodyPr>
          <a:lstStyle/>
          <a:p>
            <a:r>
              <a:rPr lang="zh-TW" altLang="en-US" sz="2800" dirty="0"/>
              <a:t>提案目的及計畫大綱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77A8E3-BD3C-6170-54A7-C2FAED68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906" y="878891"/>
            <a:ext cx="11546150" cy="591252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提案目的</a:t>
            </a:r>
            <a:r>
              <a:rPr lang="en-US" altLang="zh-TW" sz="1100" dirty="0"/>
              <a:t>:</a:t>
            </a:r>
            <a:r>
              <a:rPr lang="zh-TW" altLang="en-US" sz="1100" dirty="0"/>
              <a:t> 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企業每年汰換大量電腦造成電子廢棄物與環境負擔，同時偏鄉學生缺乏電腦與數位教育資源。</a:t>
            </a:r>
            <a:br>
              <a:rPr lang="zh-TW" altLang="en-US" sz="1100" dirty="0"/>
            </a:br>
            <a:r>
              <a:rPr lang="zh-TW" altLang="en-US" sz="1100" dirty="0"/>
              <a:t>本計畫透過 </a:t>
            </a:r>
            <a:r>
              <a:rPr lang="zh-TW" altLang="en-US" sz="1100" b="1" dirty="0"/>
              <a:t>回收再生電腦</a:t>
            </a:r>
            <a:r>
              <a:rPr lang="zh-TW" altLang="en-US" sz="1100" dirty="0"/>
              <a:t>，結合 </a:t>
            </a:r>
            <a:r>
              <a:rPr lang="zh-TW" altLang="en-US" sz="1100" b="1" dirty="0"/>
              <a:t>教育培力</a:t>
            </a:r>
            <a:r>
              <a:rPr lang="zh-TW" altLang="en-US" sz="1100" dirty="0"/>
              <a:t>，同時解決企業廢棄管理與社會數位落差，達成「減碳 </a:t>
            </a:r>
            <a:r>
              <a:rPr lang="en-US" altLang="zh-TW" sz="1100" dirty="0"/>
              <a:t>× </a:t>
            </a:r>
            <a:r>
              <a:rPr lang="zh-TW" altLang="en-US" sz="1100" dirty="0"/>
              <a:t>公益」雙贏。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📘 計畫大綱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設備回收與檢測：建立篩檢流程，與 </a:t>
            </a:r>
            <a:r>
              <a:rPr lang="en-US" altLang="zh-TW" sz="1100" dirty="0"/>
              <a:t>IT </a:t>
            </a:r>
            <a:r>
              <a:rPr lang="zh-TW" altLang="en-US" sz="1100" dirty="0"/>
              <a:t>專業維修單位合作翻新。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再利用與捐贈：安裝合法軟體後，捐贈至偏鄉與弱勢團體。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數位教育推廣：辦理電腦與網路安全課程，提供線上支援。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效益追蹤量化：透過 </a:t>
            </a:r>
            <a:r>
              <a:rPr lang="zh-TW" altLang="en-US" sz="1100" b="1" dirty="0"/>
              <a:t>數據儀表板</a:t>
            </a:r>
            <a:r>
              <a:rPr lang="zh-TW" altLang="en-US" sz="1100" dirty="0"/>
              <a:t> 公開減碳與受惠成效，讓公益透明可追蹤。每年再利用電腦 </a:t>
            </a:r>
            <a:r>
              <a:rPr lang="en-US" altLang="zh-TW" sz="1100" dirty="0"/>
              <a:t>200–500 </a:t>
            </a:r>
            <a:r>
              <a:rPr lang="zh-TW" altLang="en-US" sz="1100" dirty="0"/>
              <a:t>台、減碳 </a:t>
            </a:r>
            <a:r>
              <a:rPr lang="en-US" altLang="zh-TW" sz="1100" dirty="0"/>
              <a:t>80–200 </a:t>
            </a:r>
            <a:r>
              <a:rPr lang="zh-TW" altLang="en-US" sz="1100" dirty="0"/>
              <a:t>噸、受惠人數 </a:t>
            </a:r>
            <a:r>
              <a:rPr lang="en-US" altLang="zh-TW" sz="1100" dirty="0"/>
              <a:t>200–500 </a:t>
            </a:r>
            <a:r>
              <a:rPr lang="zh-TW" altLang="en-US" sz="1100" dirty="0"/>
              <a:t>人以上。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延伸應用 </a:t>
            </a:r>
            <a:r>
              <a:rPr lang="en-US" altLang="zh-TW" sz="1100" dirty="0"/>
              <a:t>:</a:t>
            </a:r>
            <a:r>
              <a:rPr lang="zh-TW" altLang="en-US" sz="1100" dirty="0"/>
              <a:t> 導入 </a:t>
            </a:r>
            <a:r>
              <a:rPr lang="en-US" altLang="zh-TW" sz="1100" b="1" dirty="0"/>
              <a:t>AI </a:t>
            </a:r>
            <a:r>
              <a:rPr lang="zh-TW" altLang="en-US" sz="1100" b="1" dirty="0"/>
              <a:t>健檢與預測維護</a:t>
            </a:r>
            <a:r>
              <a:rPr lang="zh-TW" altLang="en-US" sz="1100" dirty="0"/>
              <a:t>延長設備壽命，以及串聯企業、學校與社區，促成 </a:t>
            </a:r>
            <a:r>
              <a:rPr lang="zh-TW" altLang="en-US" sz="1100" b="1" dirty="0"/>
              <a:t>跨界合作與資源共享</a:t>
            </a:r>
            <a:r>
              <a:rPr lang="zh-TW" altLang="en-US" sz="1100" dirty="0"/>
              <a:t>，打造循環共榮的綠色教育新典範。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第一階段（</a:t>
            </a:r>
            <a:r>
              <a:rPr lang="en-US" altLang="zh-TW" sz="1100" dirty="0"/>
              <a:t>0–3 </a:t>
            </a:r>
            <a:r>
              <a:rPr lang="zh-TW" altLang="en-US" sz="1100" dirty="0"/>
              <a:t>個月）建立跨部門專案小組（資訊、永續、社會責任部門）。完成高雄廠舊電腦盤點，篩選出首批 </a:t>
            </a:r>
            <a:r>
              <a:rPr lang="en-US" altLang="zh-TW" sz="1100" dirty="0"/>
              <a:t>200 </a:t>
            </a:r>
            <a:r>
              <a:rPr lang="zh-TW" altLang="en-US" sz="1100" dirty="0"/>
              <a:t>台可翻新設備。與 </a:t>
            </a:r>
            <a:r>
              <a:rPr lang="en-US" altLang="zh-TW" sz="1100" dirty="0"/>
              <a:t>IT </a:t>
            </a:r>
            <a:r>
              <a:rPr lang="zh-TW" altLang="en-US" sz="1100" dirty="0"/>
              <a:t>維修及 </a:t>
            </a:r>
            <a:r>
              <a:rPr lang="en-US" altLang="zh-TW" sz="1100" dirty="0"/>
              <a:t>NGO </a:t>
            </a:r>
            <a:r>
              <a:rPr lang="zh-TW" altLang="en-US" sz="1100" dirty="0"/>
              <a:t>簽訂合作備忘錄。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階段目標：完成制度化流程設計，並準備首批再生電腦。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第二階段（</a:t>
            </a:r>
            <a:r>
              <a:rPr lang="en-US" altLang="zh-TW" sz="1100" dirty="0"/>
              <a:t>4–6 </a:t>
            </a:r>
            <a:r>
              <a:rPr lang="zh-TW" altLang="en-US" sz="1100" dirty="0"/>
              <a:t>個月）啟動翻新流程，進行硬體檢測與資料清除。統一安裝合法授權軟體與教育資源。首批電腦捐贈至 </a:t>
            </a:r>
            <a:r>
              <a:rPr lang="en-US" altLang="zh-TW" sz="1100" dirty="0"/>
              <a:t>3–5 </a:t>
            </a:r>
            <a:r>
              <a:rPr lang="zh-TW" altLang="en-US" sz="1100" dirty="0"/>
              <a:t>所偏鄉學校或社福機構。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階段目標：實際落地執行，完成首批捐贈，受惠學生達 </a:t>
            </a:r>
            <a:r>
              <a:rPr lang="en-US" altLang="zh-TW" sz="1100" dirty="0"/>
              <a:t>200 </a:t>
            </a:r>
            <a:r>
              <a:rPr lang="zh-TW" altLang="en-US" sz="1100" dirty="0"/>
              <a:t>人以上。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第三階段（</a:t>
            </a:r>
            <a:r>
              <a:rPr lang="en-US" altLang="zh-TW" sz="1100" dirty="0"/>
              <a:t>7–12 </a:t>
            </a:r>
            <a:r>
              <a:rPr lang="zh-TW" altLang="en-US" sz="1100" dirty="0"/>
              <a:t>個月）擴大至全年 </a:t>
            </a:r>
            <a:r>
              <a:rPr lang="en-US" altLang="zh-TW" sz="1100" dirty="0"/>
              <a:t>500 </a:t>
            </a:r>
            <a:r>
              <a:rPr lang="zh-TW" altLang="en-US" sz="1100" dirty="0"/>
              <a:t>台電腦翻新與捐贈。結合地方教育單位舉辦數位教育工作坊。建立追蹤平台，收集學生使用情況與 </a:t>
            </a:r>
            <a:r>
              <a:rPr lang="en-US" altLang="zh-TW" sz="1100" dirty="0"/>
              <a:t>ESG </a:t>
            </a:r>
            <a:r>
              <a:rPr lang="zh-TW" altLang="en-US" sz="1100" dirty="0"/>
              <a:t>數據（碳排減量、受惠人數）。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階段目標：形成可量化成效，完成 </a:t>
            </a:r>
            <a:r>
              <a:rPr lang="en-US" altLang="zh-TW" sz="1100" dirty="0"/>
              <a:t>ESG </a:t>
            </a:r>
            <a:r>
              <a:rPr lang="zh-TW" altLang="en-US" sz="1100" dirty="0"/>
              <a:t>年報數據輸入。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b="1" dirty="0"/>
              <a:t>跨部門合作任務分配</a:t>
            </a:r>
            <a:endParaRPr lang="en-US" altLang="zh-TW" sz="1100" b="1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資訊部門負責淘汰電腦設備檢測、資料清除、系統重灌與功能驗證，提供再生電腦使用教學資源。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環安衛部門確認電腦回收過程符合法規與環保要求。評估減碳效益，追蹤 </a:t>
            </a:r>
            <a:r>
              <a:rPr lang="en-US" altLang="zh-TW" sz="1100" dirty="0"/>
              <a:t>ESG </a:t>
            </a:r>
            <a:r>
              <a:rPr lang="zh-TW" altLang="en-US" sz="1100" dirty="0"/>
              <a:t>成效指標。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人資與教育訓練部門規劃志工參與，安排同仁培訓與社區數位課程。建立內部員工參與獎勵機制。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企業永續 </a:t>
            </a:r>
            <a:r>
              <a:rPr lang="en-US" altLang="zh-TW" sz="1100" dirty="0"/>
              <a:t>/ </a:t>
            </a:r>
            <a:r>
              <a:rPr lang="zh-TW" altLang="en-US" sz="1100" dirty="0"/>
              <a:t>公共事務部門與在地社區、學校、非營利組織合作，媒合需求，對外溝通與發布成果報告，提升企業形象。</a:t>
            </a:r>
            <a:endParaRPr lang="en-US" altLang="zh-TW" sz="1100" dirty="0"/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100" dirty="0"/>
              <a:t>財務部門規劃專案預算與資源分配，評估成本效益與長期投資回報。</a:t>
            </a:r>
            <a:endParaRPr lang="en-US" altLang="zh-TW" sz="1100" dirty="0"/>
          </a:p>
        </p:txBody>
      </p:sp>
    </p:spTree>
    <p:extLst>
      <p:ext uri="{BB962C8B-B14F-4D97-AF65-F5344CB8AC3E}">
        <p14:creationId xmlns:p14="http://schemas.microsoft.com/office/powerpoint/2010/main" val="2203844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9104D2-92A9-9490-6C12-82CA05EAD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87" y="125429"/>
            <a:ext cx="10515600" cy="584786"/>
          </a:xfrm>
        </p:spPr>
        <p:txBody>
          <a:bodyPr>
            <a:noAutofit/>
          </a:bodyPr>
          <a:lstStyle/>
          <a:p>
            <a:r>
              <a:rPr lang="zh-TW" altLang="en-US" sz="2800" dirty="0"/>
              <a:t>預期挑戰及效益評估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D24A3E-6671-9C52-DF74-CB855852C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597" y="710214"/>
            <a:ext cx="4474345" cy="4119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1100" b="1" dirty="0"/>
              <a:t>資源需求評估</a:t>
            </a:r>
            <a:endParaRPr lang="en-US" altLang="zh-TW" sz="1100" b="1" dirty="0"/>
          </a:p>
          <a:p>
            <a:r>
              <a:rPr lang="zh-TW" altLang="en-US" sz="1100" dirty="0"/>
              <a:t>人力資源</a:t>
            </a:r>
            <a:br>
              <a:rPr lang="zh-TW" altLang="en-US" sz="1100" dirty="0"/>
            </a:br>
            <a:r>
              <a:rPr lang="zh-TW" altLang="en-US" sz="1100" dirty="0"/>
              <a:t>資訊人員 </a:t>
            </a:r>
            <a:r>
              <a:rPr lang="en-US" altLang="zh-TW" sz="1100" dirty="0"/>
              <a:t>4 </a:t>
            </a:r>
            <a:r>
              <a:rPr lang="zh-TW" altLang="en-US" sz="1100" dirty="0"/>
              <a:t>名：負責檢測、資料清除與系統安裝。</a:t>
            </a:r>
            <a:br>
              <a:rPr lang="zh-TW" altLang="en-US" sz="1100" dirty="0"/>
            </a:br>
            <a:r>
              <a:rPr lang="zh-TW" altLang="en-US" sz="1100" dirty="0"/>
              <a:t>環安衛人員 </a:t>
            </a:r>
            <a:r>
              <a:rPr lang="en-US" altLang="zh-TW" sz="1100" dirty="0"/>
              <a:t>3 </a:t>
            </a:r>
            <a:r>
              <a:rPr lang="zh-TW" altLang="en-US" sz="1100" dirty="0"/>
              <a:t>名：確保回收流程符合法規。</a:t>
            </a:r>
            <a:br>
              <a:rPr lang="zh-TW" altLang="en-US" sz="1100" dirty="0"/>
            </a:br>
            <a:r>
              <a:rPr lang="zh-TW" altLang="en-US" sz="1100" dirty="0"/>
              <a:t>行政</a:t>
            </a:r>
            <a:r>
              <a:rPr lang="en-US" altLang="zh-TW" sz="1100" dirty="0"/>
              <a:t>/</a:t>
            </a:r>
            <a:r>
              <a:rPr lang="zh-TW" altLang="en-US" sz="1100" dirty="0"/>
              <a:t>永續人員 </a:t>
            </a:r>
            <a:r>
              <a:rPr lang="en-US" altLang="zh-TW" sz="1100" dirty="0"/>
              <a:t>3 </a:t>
            </a:r>
            <a:r>
              <a:rPr lang="zh-TW" altLang="en-US" sz="1100" dirty="0"/>
              <a:t>名：社區媒合與專案管理。</a:t>
            </a:r>
            <a:br>
              <a:rPr lang="zh-TW" altLang="en-US" sz="1100" dirty="0"/>
            </a:br>
            <a:r>
              <a:rPr lang="zh-TW" altLang="en-US" sz="1100" dirty="0"/>
              <a:t>志工</a:t>
            </a:r>
            <a:r>
              <a:rPr lang="en-US" altLang="zh-TW" sz="1100" dirty="0"/>
              <a:t>/</a:t>
            </a:r>
            <a:r>
              <a:rPr lang="zh-TW" altLang="en-US" sz="1100" dirty="0"/>
              <a:t>員工 </a:t>
            </a:r>
            <a:r>
              <a:rPr lang="en-US" altLang="zh-TW" sz="1100" dirty="0"/>
              <a:t>20</a:t>
            </a:r>
            <a:r>
              <a:rPr lang="zh-TW" altLang="en-US" sz="1100" dirty="0"/>
              <a:t>名以上：支援再生電腦送達與教學輔導。</a:t>
            </a:r>
            <a:endParaRPr lang="en-US" altLang="zh-TW" sz="1100" dirty="0"/>
          </a:p>
          <a:p>
            <a:pPr marL="0" indent="0">
              <a:buNone/>
            </a:pPr>
            <a:r>
              <a:rPr lang="zh-TW" altLang="en-US" sz="1100" dirty="0"/>
              <a:t>以 </a:t>
            </a:r>
            <a:r>
              <a:rPr lang="en-US" altLang="zh-TW" sz="1100" dirty="0"/>
              <a:t>10</a:t>
            </a:r>
            <a:r>
              <a:rPr lang="zh-TW" altLang="en-US" sz="1100" dirty="0"/>
              <a:t> 名員工，</a:t>
            </a:r>
            <a:r>
              <a:rPr lang="en-US" altLang="zh-TW" sz="1100" dirty="0"/>
              <a:t>2</a:t>
            </a:r>
            <a:r>
              <a:rPr lang="zh-TW" altLang="en-US" sz="1100" dirty="0"/>
              <a:t>人月工時，</a:t>
            </a:r>
            <a:r>
              <a:rPr lang="en-US" altLang="zh-TW" sz="1100" dirty="0"/>
              <a:t>6</a:t>
            </a:r>
            <a:r>
              <a:rPr lang="zh-TW" altLang="en-US" sz="1100" dirty="0"/>
              <a:t>萬元</a:t>
            </a:r>
            <a:r>
              <a:rPr lang="en-US" altLang="zh-TW" sz="1100" dirty="0"/>
              <a:t>/</a:t>
            </a:r>
            <a:r>
              <a:rPr lang="zh-TW" altLang="en-US" sz="1100" dirty="0"/>
              <a:t>月計算，總共 </a:t>
            </a:r>
            <a:r>
              <a:rPr lang="en-US" altLang="zh-TW" sz="1100" dirty="0"/>
              <a:t>120</a:t>
            </a:r>
            <a:r>
              <a:rPr lang="zh-TW" altLang="en-US" sz="1100" dirty="0"/>
              <a:t>萬元</a:t>
            </a:r>
            <a:r>
              <a:rPr lang="en-US" altLang="zh-TW" sz="1100" dirty="0"/>
              <a:t>/</a:t>
            </a:r>
            <a:r>
              <a:rPr lang="zh-TW" altLang="en-US" sz="1100" dirty="0"/>
              <a:t>年</a:t>
            </a:r>
            <a:endParaRPr lang="en-US" altLang="zh-TW" sz="1100" dirty="0"/>
          </a:p>
          <a:p>
            <a:r>
              <a:rPr lang="zh-TW" altLang="en-US" sz="1100" dirty="0"/>
              <a:t>預算資源</a:t>
            </a:r>
            <a:br>
              <a:rPr lang="zh-TW" altLang="en-US" sz="1100" dirty="0"/>
            </a:br>
            <a:r>
              <a:rPr lang="zh-TW" altLang="en-US" sz="1100" dirty="0"/>
              <a:t>軟體授權與維護：約 </a:t>
            </a:r>
            <a:r>
              <a:rPr lang="en-US" altLang="zh-TW" sz="1100" dirty="0"/>
              <a:t>3,000 </a:t>
            </a:r>
            <a:r>
              <a:rPr lang="zh-TW" altLang="en-US" sz="1100" dirty="0"/>
              <a:t>元</a:t>
            </a:r>
            <a:r>
              <a:rPr lang="en-US" altLang="zh-TW" sz="1100" dirty="0"/>
              <a:t>/</a:t>
            </a:r>
            <a:r>
              <a:rPr lang="zh-TW" altLang="en-US" sz="1100" dirty="0"/>
              <a:t>台，共 </a:t>
            </a:r>
            <a:r>
              <a:rPr lang="en-US" altLang="zh-TW" sz="1100" dirty="0"/>
              <a:t>15 </a:t>
            </a:r>
            <a:r>
              <a:rPr lang="zh-TW" altLang="en-US" sz="1100" dirty="0"/>
              <a:t>萬元</a:t>
            </a:r>
            <a:r>
              <a:rPr lang="en-US" altLang="zh-TW" sz="1100" dirty="0"/>
              <a:t>/</a:t>
            </a:r>
            <a:r>
              <a:rPr lang="zh-TW" altLang="en-US" sz="1100" dirty="0"/>
              <a:t>年</a:t>
            </a:r>
            <a:r>
              <a:rPr lang="en-US" altLang="zh-TW" sz="1100" dirty="0"/>
              <a:t>(</a:t>
            </a:r>
            <a:r>
              <a:rPr lang="zh-TW" altLang="en-US" sz="1100" dirty="0"/>
              <a:t>以 </a:t>
            </a:r>
            <a:r>
              <a:rPr lang="en-US" altLang="zh-TW" sz="1100" dirty="0"/>
              <a:t>500</a:t>
            </a:r>
            <a:r>
              <a:rPr lang="zh-TW" altLang="en-US" sz="1100" dirty="0"/>
              <a:t>台</a:t>
            </a:r>
            <a:r>
              <a:rPr lang="en-US" altLang="zh-TW" sz="1100" dirty="0"/>
              <a:t>/</a:t>
            </a:r>
            <a:r>
              <a:rPr lang="zh-TW" altLang="en-US" sz="1100" dirty="0"/>
              <a:t>年 計算</a:t>
            </a:r>
            <a:r>
              <a:rPr lang="en-US" altLang="zh-TW" sz="1100" dirty="0"/>
              <a:t>)</a:t>
            </a:r>
            <a:r>
              <a:rPr lang="zh-TW" altLang="en-US" sz="1100" dirty="0"/>
              <a:t>。</a:t>
            </a:r>
            <a:br>
              <a:rPr lang="zh-TW" altLang="en-US" sz="1100" dirty="0"/>
            </a:br>
            <a:r>
              <a:rPr lang="zh-TW" altLang="en-US" sz="1100" dirty="0"/>
              <a:t>設備翻新與零件更換：約 </a:t>
            </a:r>
            <a:r>
              <a:rPr lang="en-US" altLang="zh-TW" sz="1100" dirty="0"/>
              <a:t>5,000 </a:t>
            </a:r>
            <a:r>
              <a:rPr lang="zh-TW" altLang="en-US" sz="1100" dirty="0"/>
              <a:t>元</a:t>
            </a:r>
            <a:r>
              <a:rPr lang="en-US" altLang="zh-TW" sz="1100" dirty="0"/>
              <a:t>/</a:t>
            </a:r>
            <a:r>
              <a:rPr lang="zh-TW" altLang="en-US" sz="1100" dirty="0"/>
              <a:t>台，共 </a:t>
            </a:r>
            <a:r>
              <a:rPr lang="en-US" altLang="zh-TW" sz="1100" dirty="0"/>
              <a:t>25 </a:t>
            </a:r>
            <a:r>
              <a:rPr lang="zh-TW" altLang="en-US" sz="1100" dirty="0"/>
              <a:t>萬元</a:t>
            </a:r>
            <a:r>
              <a:rPr lang="en-US" altLang="zh-TW" sz="1100" dirty="0"/>
              <a:t>/</a:t>
            </a:r>
            <a:r>
              <a:rPr lang="zh-TW" altLang="en-US" sz="1100" dirty="0"/>
              <a:t>年</a:t>
            </a:r>
            <a:r>
              <a:rPr lang="en-US" altLang="zh-TW" sz="1100" dirty="0"/>
              <a:t>(</a:t>
            </a:r>
            <a:r>
              <a:rPr lang="zh-TW" altLang="en-US" sz="1100" dirty="0"/>
              <a:t>以 </a:t>
            </a:r>
            <a:r>
              <a:rPr lang="en-US" altLang="zh-TW" sz="1100" dirty="0"/>
              <a:t>500</a:t>
            </a:r>
            <a:r>
              <a:rPr lang="zh-TW" altLang="en-US" sz="1100" dirty="0"/>
              <a:t>台</a:t>
            </a:r>
            <a:r>
              <a:rPr lang="en-US" altLang="zh-TW" sz="1100" dirty="0"/>
              <a:t>/</a:t>
            </a:r>
            <a:r>
              <a:rPr lang="zh-TW" altLang="en-US" sz="1100" dirty="0"/>
              <a:t>年 計算</a:t>
            </a:r>
            <a:r>
              <a:rPr lang="en-US" altLang="zh-TW" sz="1100" dirty="0"/>
              <a:t>)</a:t>
            </a:r>
            <a:r>
              <a:rPr lang="zh-TW" altLang="en-US" sz="1100" dirty="0"/>
              <a:t>。</a:t>
            </a:r>
            <a:br>
              <a:rPr lang="zh-TW" altLang="en-US" sz="1100" dirty="0"/>
            </a:br>
            <a:r>
              <a:rPr lang="zh-TW" altLang="en-US" sz="1100" dirty="0"/>
              <a:t>行銷與成果報告製作：約 </a:t>
            </a:r>
            <a:r>
              <a:rPr lang="en-US" altLang="zh-TW" sz="1100" dirty="0"/>
              <a:t>10 </a:t>
            </a:r>
            <a:r>
              <a:rPr lang="zh-TW" altLang="en-US" sz="1100" dirty="0"/>
              <a:t>萬元。</a:t>
            </a:r>
            <a:endParaRPr lang="en-US" altLang="zh-TW" sz="1100" dirty="0"/>
          </a:p>
          <a:p>
            <a:pPr marL="0" indent="0">
              <a:buNone/>
            </a:pPr>
            <a:r>
              <a:rPr lang="zh-TW" altLang="en-US" sz="1100" dirty="0"/>
              <a:t>人力</a:t>
            </a:r>
            <a:r>
              <a:rPr lang="en-US" altLang="zh-TW" sz="1100" dirty="0"/>
              <a:t>+</a:t>
            </a:r>
            <a:r>
              <a:rPr lang="zh-TW" altLang="en-US" sz="1100" dirty="0"/>
              <a:t>預算資源合計 約  </a:t>
            </a:r>
            <a:r>
              <a:rPr lang="en-US" altLang="zh-TW" sz="1100" dirty="0"/>
              <a:t>170</a:t>
            </a:r>
            <a:r>
              <a:rPr lang="zh-TW" altLang="en-US" sz="1100" dirty="0"/>
              <a:t> 萬</a:t>
            </a:r>
            <a:r>
              <a:rPr lang="en-US" altLang="zh-TW" sz="1100" dirty="0"/>
              <a:t>/</a:t>
            </a:r>
            <a:r>
              <a:rPr lang="zh-TW" altLang="en-US" sz="1100" dirty="0"/>
              <a:t>年。</a:t>
            </a:r>
            <a:endParaRPr lang="en-US" altLang="zh-TW" sz="1100" dirty="0"/>
          </a:p>
          <a:p>
            <a:r>
              <a:rPr lang="zh-TW" altLang="en-US" sz="1100" dirty="0"/>
              <a:t>時間規劃</a:t>
            </a:r>
            <a:br>
              <a:rPr lang="zh-TW" altLang="en-US" sz="1100" dirty="0"/>
            </a:br>
            <a:r>
              <a:rPr lang="zh-TW" altLang="en-US" sz="1100" dirty="0"/>
              <a:t>計畫準備期：</a:t>
            </a:r>
            <a:r>
              <a:rPr lang="en-US" altLang="zh-TW" sz="1100" dirty="0"/>
              <a:t>3 </a:t>
            </a:r>
            <a:r>
              <a:rPr lang="zh-TW" altLang="en-US" sz="1100" dirty="0"/>
              <a:t>個月（流程設計、跨部門協調、盤點）。</a:t>
            </a:r>
            <a:br>
              <a:rPr lang="zh-TW" altLang="en-US" sz="1100" dirty="0"/>
            </a:br>
            <a:r>
              <a:rPr lang="zh-TW" altLang="en-US" sz="1100" dirty="0"/>
              <a:t>執行期：</a:t>
            </a:r>
            <a:r>
              <a:rPr lang="en-US" altLang="zh-TW" sz="1100" dirty="0"/>
              <a:t>8 </a:t>
            </a:r>
            <a:r>
              <a:rPr lang="zh-TW" altLang="en-US" sz="1100" dirty="0"/>
              <a:t>個月（翻新、交付、課程推動）。</a:t>
            </a:r>
            <a:br>
              <a:rPr lang="zh-TW" altLang="en-US" sz="1100" dirty="0"/>
            </a:br>
            <a:r>
              <a:rPr lang="zh-TW" altLang="en-US" sz="1100" dirty="0"/>
              <a:t>成效檢討：</a:t>
            </a:r>
            <a:r>
              <a:rPr lang="en-US" altLang="zh-TW" sz="1100" dirty="0"/>
              <a:t>1 </a:t>
            </a:r>
            <a:r>
              <a:rPr lang="zh-TW" altLang="en-US" sz="1100" dirty="0"/>
              <a:t>個月（成果數據與 </a:t>
            </a:r>
            <a:r>
              <a:rPr lang="en-US" altLang="zh-TW" sz="1100" dirty="0"/>
              <a:t>ESG </a:t>
            </a:r>
            <a:r>
              <a:rPr lang="zh-TW" altLang="en-US" sz="1100" dirty="0"/>
              <a:t>報告）。</a:t>
            </a:r>
            <a:endParaRPr lang="en-US" altLang="zh-TW" sz="1100" dirty="0"/>
          </a:p>
          <a:p>
            <a:r>
              <a:rPr lang="zh-TW" altLang="en-US" sz="1100" dirty="0"/>
              <a:t>技術資源</a:t>
            </a:r>
            <a:br>
              <a:rPr lang="zh-TW" altLang="en-US" sz="1100" dirty="0"/>
            </a:br>
            <a:r>
              <a:rPr lang="zh-TW" altLang="en-US" sz="1100" dirty="0"/>
              <a:t>資安</a:t>
            </a:r>
            <a:r>
              <a:rPr lang="en-US" altLang="zh-TW" sz="1100" dirty="0"/>
              <a:t>: </a:t>
            </a:r>
            <a:r>
              <a:rPr lang="zh-TW" altLang="en-US" sz="1100" dirty="0"/>
              <a:t>硬碟清除與驗證工具。</a:t>
            </a:r>
            <a:br>
              <a:rPr lang="zh-TW" altLang="en-US" sz="1100" dirty="0"/>
            </a:br>
            <a:r>
              <a:rPr lang="zh-TW" altLang="en-US" sz="1100" dirty="0"/>
              <a:t>系統安裝與更新技術。</a:t>
            </a:r>
            <a:br>
              <a:rPr lang="zh-TW" altLang="en-US" sz="1100" dirty="0"/>
            </a:br>
            <a:r>
              <a:rPr lang="en-US" altLang="zh-TW" sz="1100" dirty="0"/>
              <a:t>ESG </a:t>
            </a:r>
            <a:r>
              <a:rPr lang="zh-TW" altLang="en-US" sz="1100" dirty="0"/>
              <a:t>減碳計算與追蹤工具。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4CBD6B9-D8A3-D7D6-1B07-C64833C9E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483336"/>
              </p:ext>
            </p:extLst>
          </p:nvPr>
        </p:nvGraphicFramePr>
        <p:xfrm>
          <a:off x="4909352" y="563927"/>
          <a:ext cx="7193871" cy="198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197">
                  <a:extLst>
                    <a:ext uri="{9D8B030D-6E8A-4147-A177-3AD203B41FA5}">
                      <a16:colId xmlns:a16="http://schemas.microsoft.com/office/drawing/2014/main" val="2489011865"/>
                    </a:ext>
                  </a:extLst>
                </a:gridCol>
                <a:gridCol w="3341837">
                  <a:extLst>
                    <a:ext uri="{9D8B030D-6E8A-4147-A177-3AD203B41FA5}">
                      <a16:colId xmlns:a16="http://schemas.microsoft.com/office/drawing/2014/main" val="1270305579"/>
                    </a:ext>
                  </a:extLst>
                </a:gridCol>
                <a:gridCol w="3341837">
                  <a:extLst>
                    <a:ext uri="{9D8B030D-6E8A-4147-A177-3AD203B41FA5}">
                      <a16:colId xmlns:a16="http://schemas.microsoft.com/office/drawing/2014/main" val="3175535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/>
                        <a:t>預期挑戰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/>
                        <a:t>因應方法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185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100" dirty="0"/>
                        <a:t>技術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/>
                        <a:t>部分電腦老舊，硬體故障率高，或與新軟體相容性不足。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/>
                        <a:t>建立標準化檢測流程，優先挑選可翻新機種；提供 </a:t>
                      </a:r>
                      <a:r>
                        <a:rPr lang="en-US" altLang="zh-TW" sz="1100" dirty="0"/>
                        <a:t>Linux </a:t>
                      </a:r>
                      <a:r>
                        <a:rPr lang="zh-TW" altLang="en-US" sz="1100" dirty="0"/>
                        <a:t>等輕量系統；設立零件備品池以延長使用壽命。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304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100" dirty="0"/>
                        <a:t>合作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/>
                        <a:t>跨部門協調不易，社區、學校等合作單位可能對資安或維護有疑慮。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/>
                        <a:t>設立專案小組與聯絡窗口，制定合作備忘錄 </a:t>
                      </a:r>
                      <a:r>
                        <a:rPr lang="en-US" altLang="zh-TW" sz="1100" dirty="0"/>
                        <a:t>(MOU)</a:t>
                      </a:r>
                      <a:r>
                        <a:rPr lang="zh-TW" altLang="en-US" sz="1100" dirty="0"/>
                        <a:t>，並提供資安證明文件與教育訓練，提升合作夥伴信任。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166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1100" dirty="0"/>
                        <a:t>資源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/>
                        <a:t>回收電腦數量不足，或人力</a:t>
                      </a:r>
                      <a:r>
                        <a:rPr lang="en-US" altLang="zh-TW" sz="1100" dirty="0"/>
                        <a:t>/</a:t>
                      </a:r>
                      <a:r>
                        <a:rPr lang="zh-TW" altLang="en-US" sz="1100" dirty="0"/>
                        <a:t>預算無法支持長期運作。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100" dirty="0"/>
                        <a:t>導入「以舊換新」或「電腦捐贈」激勵機制，鼓勵員工與合作企業參與；爭取政府補助與 </a:t>
                      </a:r>
                      <a:r>
                        <a:rPr lang="en-US" altLang="zh-TW" sz="1100" dirty="0"/>
                        <a:t>ESG </a:t>
                      </a:r>
                      <a:r>
                        <a:rPr lang="zh-TW" altLang="en-US" sz="1100" dirty="0"/>
                        <a:t>綠色基金；逐年擴充志工與外部協力廠商。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832464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6B275BD8-52C0-6C0A-200C-1C1DC673F883}"/>
              </a:ext>
            </a:extLst>
          </p:cNvPr>
          <p:cNvSpPr txBox="1"/>
          <p:nvPr/>
        </p:nvSpPr>
        <p:spPr>
          <a:xfrm>
            <a:off x="5777883" y="2825291"/>
            <a:ext cx="6233604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100" dirty="0"/>
              <a:t>量化指標 </a:t>
            </a:r>
            <a:r>
              <a:rPr lang="en-US" altLang="zh-TW" sz="1100" dirty="0"/>
              <a:t>(KPI)</a:t>
            </a:r>
            <a:br>
              <a:rPr lang="en-US" altLang="zh-TW" sz="1100" dirty="0"/>
            </a:br>
            <a:r>
              <a:rPr lang="zh-TW" altLang="en-US" sz="1100" dirty="0"/>
              <a:t>環境面</a:t>
            </a:r>
            <a:br>
              <a:rPr lang="zh-TW" altLang="en-US" sz="1100" dirty="0"/>
            </a:br>
            <a:r>
              <a:rPr lang="zh-TW" altLang="en-US" sz="1100" dirty="0"/>
              <a:t>翻新電腦數量：每年翻新 </a:t>
            </a:r>
            <a:r>
              <a:rPr lang="en-US" altLang="zh-TW" sz="1100" dirty="0"/>
              <a:t>200 </a:t>
            </a:r>
            <a:r>
              <a:rPr lang="zh-TW" altLang="en-US" sz="1100" dirty="0"/>
              <a:t>台以上。</a:t>
            </a:r>
            <a:br>
              <a:rPr lang="zh-TW" altLang="en-US" sz="1100" dirty="0"/>
            </a:br>
            <a:r>
              <a:rPr lang="zh-TW" altLang="en-US" sz="1100" dirty="0"/>
              <a:t>碳排放減量：依據一台電腦每年平均排放約 </a:t>
            </a:r>
            <a:r>
              <a:rPr lang="en-US" altLang="zh-TW" sz="1100" dirty="0"/>
              <a:t>400 </a:t>
            </a:r>
            <a:r>
              <a:rPr lang="zh-TW" altLang="en-US" sz="1100" dirty="0"/>
              <a:t>公斤 </a:t>
            </a:r>
            <a:r>
              <a:rPr lang="en-US" altLang="zh-TW" sz="1100" dirty="0" err="1"/>
              <a:t>CO₂e</a:t>
            </a:r>
            <a:r>
              <a:rPr lang="zh-TW" altLang="en-US" sz="1100" dirty="0"/>
              <a:t>，翻新 </a:t>
            </a:r>
            <a:r>
              <a:rPr lang="en-US" altLang="zh-TW" sz="1100" dirty="0"/>
              <a:t>200 </a:t>
            </a:r>
            <a:r>
              <a:rPr lang="zh-TW" altLang="en-US" sz="1100" dirty="0"/>
              <a:t>台 ≈ 減少 </a:t>
            </a:r>
            <a:r>
              <a:rPr lang="en-US" altLang="zh-TW" sz="1100" dirty="0"/>
              <a:t>80 </a:t>
            </a:r>
            <a:r>
              <a:rPr lang="zh-TW" altLang="en-US" sz="1100" dirty="0"/>
              <a:t>公噸 </a:t>
            </a:r>
            <a:r>
              <a:rPr lang="en-US" altLang="zh-TW" sz="1100" dirty="0" err="1"/>
              <a:t>CO₂e</a:t>
            </a:r>
            <a:r>
              <a:rPr lang="zh-TW" altLang="en-US" sz="1100" dirty="0"/>
              <a:t>。</a:t>
            </a:r>
            <a:br>
              <a:rPr lang="zh-TW" altLang="en-US" sz="1100" dirty="0"/>
            </a:br>
            <a:r>
              <a:rPr lang="zh-TW" altLang="en-US" sz="1100" dirty="0"/>
              <a:t>社會面</a:t>
            </a:r>
            <a:br>
              <a:rPr lang="zh-TW" altLang="en-US" sz="1100" dirty="0"/>
            </a:br>
            <a:r>
              <a:rPr lang="zh-TW" altLang="en-US" sz="1100" dirty="0"/>
              <a:t>受惠對象：每年 </a:t>
            </a:r>
            <a:r>
              <a:rPr lang="en-US" altLang="zh-TW" sz="1100" dirty="0"/>
              <a:t>200 </a:t>
            </a:r>
            <a:r>
              <a:rPr lang="zh-TW" altLang="en-US" sz="1100" dirty="0"/>
              <a:t>名以上弱勢學生</a:t>
            </a:r>
            <a:r>
              <a:rPr lang="en-US" altLang="zh-TW" sz="1100" dirty="0"/>
              <a:t>/</a:t>
            </a:r>
            <a:r>
              <a:rPr lang="zh-TW" altLang="en-US" sz="1100" dirty="0"/>
              <a:t>社區居民獲得使用權。教育資源提升：受惠學校</a:t>
            </a:r>
            <a:r>
              <a:rPr lang="en-US" altLang="zh-TW" sz="1100" dirty="0"/>
              <a:t>/</a:t>
            </a:r>
            <a:r>
              <a:rPr lang="zh-TW" altLang="en-US" sz="1100" dirty="0"/>
              <a:t>社區單位至少 </a:t>
            </a:r>
            <a:r>
              <a:rPr lang="en-US" altLang="zh-TW" sz="1100" dirty="0"/>
              <a:t>10 </a:t>
            </a:r>
            <a:r>
              <a:rPr lang="zh-TW" altLang="en-US" sz="1100" dirty="0"/>
              <a:t>個以上。</a:t>
            </a:r>
            <a:endParaRPr lang="en-US" altLang="zh-TW" sz="1100" dirty="0"/>
          </a:p>
          <a:p>
            <a:r>
              <a:rPr lang="zh-TW" altLang="en-US" sz="1100" dirty="0"/>
              <a:t>企業面 </a:t>
            </a:r>
            <a:r>
              <a:rPr lang="en-US" altLang="zh-TW" sz="1100" dirty="0"/>
              <a:t>(ESG </a:t>
            </a:r>
            <a:r>
              <a:rPr lang="zh-TW" altLang="en-US" sz="1100" dirty="0"/>
              <a:t>對應</a:t>
            </a:r>
            <a:r>
              <a:rPr lang="en-US" altLang="zh-TW" sz="1100" dirty="0"/>
              <a:t>)</a:t>
            </a:r>
            <a:br>
              <a:rPr lang="en-US" altLang="zh-TW" sz="1100" dirty="0"/>
            </a:br>
            <a:r>
              <a:rPr lang="en-US" altLang="zh-TW" sz="1100" dirty="0"/>
              <a:t>CSR/ESG </a:t>
            </a:r>
            <a:r>
              <a:rPr lang="zh-TW" altLang="en-US" sz="1100" dirty="0"/>
              <a:t>報告指標提升：每年對應至少 </a:t>
            </a:r>
            <a:r>
              <a:rPr lang="en-US" altLang="zh-TW" sz="1100" dirty="0"/>
              <a:t>2 </a:t>
            </a:r>
            <a:r>
              <a:rPr lang="zh-TW" altLang="en-US" sz="1100" dirty="0"/>
              <a:t>項 </a:t>
            </a:r>
            <a:r>
              <a:rPr lang="en-US" altLang="zh-TW" sz="1100" dirty="0"/>
              <a:t>SDGs (</a:t>
            </a:r>
            <a:r>
              <a:rPr lang="zh-TW" altLang="en-US" sz="1100" dirty="0"/>
              <a:t>如 </a:t>
            </a:r>
            <a:r>
              <a:rPr lang="en-US" altLang="zh-TW" sz="1100" dirty="0"/>
              <a:t>SDG4 </a:t>
            </a:r>
            <a:r>
              <a:rPr lang="zh-TW" altLang="en-US" sz="1100" dirty="0"/>
              <a:t>優質教育、</a:t>
            </a:r>
            <a:r>
              <a:rPr lang="en-US" altLang="zh-TW" sz="1100" dirty="0"/>
              <a:t>SDG12 </a:t>
            </a:r>
            <a:r>
              <a:rPr lang="zh-TW" altLang="en-US" sz="1100" dirty="0"/>
              <a:t>責任消費與生產</a:t>
            </a:r>
            <a:r>
              <a:rPr lang="en-US" altLang="zh-TW" sz="1100" dirty="0"/>
              <a:t>)</a:t>
            </a:r>
            <a:r>
              <a:rPr lang="zh-TW" altLang="en-US" sz="1100" dirty="0"/>
              <a:t>。</a:t>
            </a:r>
            <a:br>
              <a:rPr lang="zh-TW" altLang="en-US" sz="1100" dirty="0"/>
            </a:br>
            <a:r>
              <a:rPr lang="zh-TW" altLang="en-US" sz="1100" dirty="0"/>
              <a:t>員工參與度：至少 </a:t>
            </a:r>
            <a:r>
              <a:rPr lang="en-US" altLang="zh-TW" sz="1100" dirty="0"/>
              <a:t>100 </a:t>
            </a:r>
            <a:r>
              <a:rPr lang="zh-TW" altLang="en-US" sz="1100" dirty="0"/>
              <a:t>名員工參與翻新或志工服務。</a:t>
            </a:r>
            <a:br>
              <a:rPr lang="zh-TW" altLang="en-US" sz="1100" dirty="0"/>
            </a:br>
            <a:r>
              <a:rPr lang="zh-TW" altLang="en-US" sz="1100" dirty="0"/>
              <a:t>預期效益環境效益減少電子廢棄物 </a:t>
            </a:r>
            <a:r>
              <a:rPr lang="en-US" altLang="zh-TW" sz="1100" dirty="0"/>
              <a:t>1,000 </a:t>
            </a:r>
            <a:r>
              <a:rPr lang="zh-TW" altLang="en-US" sz="1100" dirty="0"/>
              <a:t>公斤以上</a:t>
            </a:r>
            <a:r>
              <a:rPr lang="en-US" altLang="zh-TW" sz="1100" dirty="0"/>
              <a:t>/</a:t>
            </a:r>
            <a:r>
              <a:rPr lang="zh-TW" altLang="en-US" sz="1100" dirty="0"/>
              <a:t>年。減少 </a:t>
            </a:r>
            <a:r>
              <a:rPr lang="en-US" altLang="zh-TW" sz="1100" dirty="0" err="1"/>
              <a:t>CO₂e</a:t>
            </a:r>
            <a:r>
              <a:rPr lang="en-US" altLang="zh-TW" sz="1100" dirty="0"/>
              <a:t> </a:t>
            </a:r>
            <a:r>
              <a:rPr lang="zh-TW" altLang="en-US" sz="1100" dirty="0"/>
              <a:t>排放 </a:t>
            </a:r>
            <a:r>
              <a:rPr lang="en-US" altLang="zh-TW" sz="1100" dirty="0"/>
              <a:t>80 </a:t>
            </a:r>
            <a:r>
              <a:rPr lang="zh-TW" altLang="en-US" sz="1100" dirty="0"/>
              <a:t>公噸</a:t>
            </a:r>
            <a:r>
              <a:rPr lang="en-US" altLang="zh-TW" sz="1100" dirty="0"/>
              <a:t>/</a:t>
            </a:r>
            <a:r>
              <a:rPr lang="zh-TW" altLang="en-US" sz="1100" dirty="0"/>
              <a:t>年，相當於 </a:t>
            </a:r>
            <a:r>
              <a:rPr lang="en-US" altLang="zh-TW" sz="1100" dirty="0"/>
              <a:t>6,600 </a:t>
            </a:r>
            <a:r>
              <a:rPr lang="zh-TW" altLang="en-US" sz="1100" dirty="0"/>
              <a:t>棵樹的碳吸收量。</a:t>
            </a:r>
            <a:br>
              <a:rPr lang="zh-TW" altLang="en-US" sz="1100" dirty="0"/>
            </a:br>
            <a:r>
              <a:rPr lang="zh-TW" altLang="en-US" sz="1100" dirty="0"/>
              <a:t>社會效益提升 </a:t>
            </a:r>
            <a:r>
              <a:rPr lang="en-US" altLang="zh-TW" sz="1100" dirty="0"/>
              <a:t>500 </a:t>
            </a:r>
            <a:r>
              <a:rPr lang="zh-TW" altLang="en-US" sz="1100" dirty="0"/>
              <a:t>名弱勢族群的數位學習與就業能力。縮小城鄉數位落差，提升社區資訊化水準。</a:t>
            </a:r>
            <a:br>
              <a:rPr lang="zh-TW" altLang="en-US" sz="1100" dirty="0"/>
            </a:br>
            <a:r>
              <a:rPr lang="zh-TW" altLang="en-US" sz="1100" dirty="0"/>
              <a:t>企業效益強化日月光 </a:t>
            </a:r>
            <a:r>
              <a:rPr lang="en-US" altLang="zh-TW" sz="1100" dirty="0"/>
              <a:t>ESG </a:t>
            </a:r>
            <a:r>
              <a:rPr lang="zh-TW" altLang="en-US" sz="1100" dirty="0"/>
              <a:t>品牌形象，提升投資人與客戶信任。吸引年輕世代員工參與，促進員工認同與向心力。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B2F0A01-BDF6-976F-9A47-E8E1ADBED658}"/>
              </a:ext>
            </a:extLst>
          </p:cNvPr>
          <p:cNvSpPr txBox="1"/>
          <p:nvPr/>
        </p:nvSpPr>
        <p:spPr>
          <a:xfrm>
            <a:off x="5777883" y="5626058"/>
            <a:ext cx="60945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100" dirty="0"/>
              <a:t>實際應用價值</a:t>
            </a:r>
            <a:br>
              <a:rPr lang="zh-TW" altLang="en-US" sz="1100" dirty="0"/>
            </a:br>
            <a:r>
              <a:rPr lang="zh-TW" altLang="en-US" sz="1100" dirty="0"/>
              <a:t>具體可執行：電腦翻新技術成熟，可由 </a:t>
            </a:r>
            <a:r>
              <a:rPr lang="en-US" altLang="zh-TW" sz="1100" dirty="0"/>
              <a:t>IT </a:t>
            </a:r>
            <a:r>
              <a:rPr lang="zh-TW" altLang="en-US" sz="1100" dirty="0"/>
              <a:t>部門與外部 </a:t>
            </a:r>
            <a:r>
              <a:rPr lang="en-US" altLang="zh-TW" sz="1100" dirty="0"/>
              <a:t>NGO </a:t>
            </a:r>
            <a:r>
              <a:rPr lang="zh-TW" altLang="en-US" sz="1100" dirty="0"/>
              <a:t>合作實現。</a:t>
            </a:r>
            <a:br>
              <a:rPr lang="zh-TW" altLang="en-US" sz="1100" dirty="0"/>
            </a:br>
            <a:r>
              <a:rPr lang="zh-TW" altLang="en-US" sz="1100" dirty="0"/>
              <a:t>可擴展性：模式可從高雄廠試辦，未來複製至其他廠區，逐步形成企業標準 </a:t>
            </a:r>
            <a:r>
              <a:rPr lang="en-US" altLang="zh-TW" sz="1100" dirty="0"/>
              <a:t>ESG </a:t>
            </a:r>
            <a:r>
              <a:rPr lang="zh-TW" altLang="en-US" sz="1100" dirty="0"/>
              <a:t>專案。</a:t>
            </a:r>
            <a:br>
              <a:rPr lang="zh-TW" altLang="en-US" sz="1100" dirty="0"/>
            </a:br>
            <a:r>
              <a:rPr lang="zh-TW" altLang="en-US" sz="1100" dirty="0"/>
              <a:t>社會共鳴：符合低碳循環經濟 </a:t>
            </a:r>
            <a:r>
              <a:rPr lang="en-US" altLang="zh-TW" sz="1100" dirty="0"/>
              <a:t>+ </a:t>
            </a:r>
            <a:r>
              <a:rPr lang="zh-TW" altLang="en-US" sz="1100" dirty="0"/>
              <a:t>社會關懷雙重目標，能獲得政府、社區與國際 </a:t>
            </a:r>
            <a:r>
              <a:rPr lang="en-US" altLang="zh-TW" sz="1100" dirty="0"/>
              <a:t>ESG </a:t>
            </a:r>
            <a:r>
              <a:rPr lang="zh-TW" altLang="en-US" sz="1100" dirty="0"/>
              <a:t>投資人支持。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0430226-13B5-C572-1220-C94F543F1299}"/>
              </a:ext>
            </a:extLst>
          </p:cNvPr>
          <p:cNvSpPr txBox="1"/>
          <p:nvPr/>
        </p:nvSpPr>
        <p:spPr>
          <a:xfrm>
            <a:off x="319597" y="4778190"/>
            <a:ext cx="54065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100" dirty="0"/>
              <a:t>受益對象</a:t>
            </a:r>
            <a:r>
              <a:rPr lang="en-US" altLang="zh-TW" sz="1100" dirty="0"/>
              <a:t>:</a:t>
            </a:r>
          </a:p>
          <a:p>
            <a:r>
              <a:rPr lang="zh-TW" altLang="en-US" sz="1100" dirty="0"/>
              <a:t>資訊部可建立電腦翻新與維護 </a:t>
            </a:r>
            <a:r>
              <a:rPr lang="en-US" altLang="zh-TW" sz="1100" dirty="0"/>
              <a:t>SOP</a:t>
            </a:r>
            <a:r>
              <a:rPr lang="zh-TW" altLang="en-US" sz="1100" dirty="0"/>
              <a:t>，提升部門專業形象。提供員工技能提升機會，累積綠色 </a:t>
            </a:r>
            <a:r>
              <a:rPr lang="en-US" altLang="zh-TW" sz="1100" dirty="0"/>
              <a:t>IT </a:t>
            </a:r>
            <a:r>
              <a:rPr lang="zh-TW" altLang="en-US" sz="1100" dirty="0"/>
              <a:t>經驗。人資部 ：透過志工參與，提升員工凝聚力與社會責任感。環安衛部 ：減少電子廢棄物，助於達成減碳目標。公關</a:t>
            </a:r>
            <a:r>
              <a:rPr lang="en-US" altLang="zh-TW" sz="1100" dirty="0"/>
              <a:t>/</a:t>
            </a:r>
            <a:r>
              <a:rPr lang="zh-TW" altLang="en-US" sz="1100" dirty="0"/>
              <a:t>永續部 </a:t>
            </a:r>
            <a:r>
              <a:rPr lang="en-US" altLang="zh-TW" sz="1100" dirty="0"/>
              <a:t>:</a:t>
            </a:r>
            <a:r>
              <a:rPr lang="zh-TW" altLang="en-US" sz="1100" dirty="0"/>
              <a:t> 作為 </a:t>
            </a:r>
            <a:r>
              <a:rPr lang="en-US" altLang="zh-TW" sz="1100" dirty="0"/>
              <a:t>ESG </a:t>
            </a:r>
            <a:r>
              <a:rPr lang="zh-TW" altLang="en-US" sz="1100" dirty="0"/>
              <a:t>專案，提升公司形象與對外溝通價值。採購部：可延伸至「綠色採購」，將循環經濟導入採購政策。</a:t>
            </a:r>
            <a:br>
              <a:rPr lang="zh-TW" altLang="en-US" sz="1100" dirty="0"/>
            </a:br>
            <a:r>
              <a:rPr lang="zh-TW" altLang="en-US" sz="1100" dirty="0"/>
              <a:t>價值鏈 </a:t>
            </a:r>
            <a:r>
              <a:rPr lang="en-US" altLang="zh-TW" sz="1100" dirty="0"/>
              <a:t>:</a:t>
            </a:r>
            <a:r>
              <a:rPr lang="zh-TW" altLang="en-US" sz="1100" dirty="0"/>
              <a:t> 企業 </a:t>
            </a:r>
            <a:r>
              <a:rPr lang="en-US" altLang="zh-TW" sz="1100" dirty="0"/>
              <a:t>/</a:t>
            </a:r>
            <a:r>
              <a:rPr lang="zh-TW" altLang="en-US" sz="1100" dirty="0"/>
              <a:t> 供應商共同參與電腦捐贈與翻新活動，擴大 </a:t>
            </a:r>
            <a:r>
              <a:rPr lang="en-US" altLang="zh-TW" sz="1100" dirty="0"/>
              <a:t>ESG </a:t>
            </a:r>
            <a:r>
              <a:rPr lang="zh-TW" altLang="en-US" sz="1100" dirty="0"/>
              <a:t>影響力。建立永續供應鏈合作案例。客戶看到公司在 </a:t>
            </a:r>
            <a:r>
              <a:rPr lang="en-US" altLang="zh-TW" sz="1100" dirty="0"/>
              <a:t>ESG </a:t>
            </a:r>
            <a:r>
              <a:rPr lang="zh-TW" altLang="en-US" sz="1100" dirty="0"/>
              <a:t>的具體行動與數據（如減碳量、受惠人數），增強對日月光的信任。可納入客戶年度 </a:t>
            </a:r>
            <a:r>
              <a:rPr lang="en-US" altLang="zh-TW" sz="1100" dirty="0"/>
              <a:t>ESG </a:t>
            </a:r>
            <a:r>
              <a:rPr lang="zh-TW" altLang="en-US" sz="1100" dirty="0"/>
              <a:t>審核報告，提升合作價值。社區</a:t>
            </a:r>
            <a:r>
              <a:rPr lang="en-US" altLang="zh-TW" sz="1100" dirty="0"/>
              <a:t>/</a:t>
            </a:r>
            <a:r>
              <a:rPr lang="zh-TW" altLang="en-US" sz="1100" dirty="0"/>
              <a:t>學校 的弱勢學生、社區居民可獲得免費或低價電腦設備。每年預估 </a:t>
            </a:r>
            <a:r>
              <a:rPr lang="en-US" altLang="zh-TW" sz="1100" dirty="0"/>
              <a:t>500 </a:t>
            </a:r>
            <a:r>
              <a:rPr lang="zh-TW" altLang="en-US" sz="1100" dirty="0"/>
              <a:t>人以上直接受惠，提升數位學習與就業機會。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13FBA909-0EF9-736A-6980-A40989250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225" y="2656014"/>
            <a:ext cx="674657" cy="674657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0A2E9D19-01DD-C1AB-25A8-EA7DC1BD5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2495" y="2649681"/>
            <a:ext cx="674657" cy="678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693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3290</TotalTime>
  <Words>3338</Words>
  <Application>Microsoft Office PowerPoint</Application>
  <PresentationFormat>寬螢幕</PresentationFormat>
  <Paragraphs>104</Paragraphs>
  <Slides>8</Slides>
  <Notes>1</Notes>
  <HiddenSlides>2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佈景主題</vt:lpstr>
      <vt:lpstr>PowerPoint 簡報</vt:lpstr>
      <vt:lpstr>電腦新生．永續智慧教育</vt:lpstr>
      <vt:lpstr>ESG 面向</vt:lpstr>
      <vt:lpstr>動機來源與創新分析</vt:lpstr>
      <vt:lpstr>動機來源與創新分析</vt:lpstr>
      <vt:lpstr>提案目的及計畫大綱</vt:lpstr>
      <vt:lpstr>提案目的及計畫大綱</vt:lpstr>
      <vt:lpstr>預期挑戰及效益評估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恩毅 陳</dc:creator>
  <cp:lastModifiedBy>M092040002</cp:lastModifiedBy>
  <cp:revision>9</cp:revision>
  <dcterms:created xsi:type="dcterms:W3CDTF">2025-10-10T08:50:58Z</dcterms:created>
  <dcterms:modified xsi:type="dcterms:W3CDTF">2025-10-12T15:40:59Z</dcterms:modified>
</cp:coreProperties>
</file>